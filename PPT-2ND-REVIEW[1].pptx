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7" r:id="rId4"/>
    <p:sldId id="259" r:id="rId5"/>
    <p:sldId id="260" r:id="rId6"/>
    <p:sldId id="261" r:id="rId7"/>
    <p:sldId id="268" r:id="rId8"/>
    <p:sldId id="264" r:id="rId9"/>
    <p:sldId id="265" r:id="rId10"/>
    <p:sldId id="269" r:id="rId11"/>
    <p:sldId id="263" r:id="rId12"/>
    <p:sldId id="26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969477-BDD5-3D2F-7380-288A82D06DD0}" v="24" dt="2026-01-05T15:26:48.676"/>
    <p1510:client id="{82B258FE-1265-C47B-F125-3A1AE3A3BDA5}" v="392" dt="2026-01-05T16:39:57.4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1BBEC-3CD7-80AC-74F3-301230ED6C7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CB71622-93F7-6E6F-C196-A59C84B9421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26E9641-F9D0-88EC-DFE1-63347CB57A98}"/>
              </a:ext>
            </a:extLst>
          </p:cNvPr>
          <p:cNvSpPr>
            <a:spLocks noGrp="1"/>
          </p:cNvSpPr>
          <p:nvPr>
            <p:ph type="dt" sz="half" idx="10"/>
          </p:nvPr>
        </p:nvSpPr>
        <p:spPr/>
        <p:txBody>
          <a:bodyPr/>
          <a:lstStyle/>
          <a:p>
            <a:fld id="{64C6B67E-B362-4ABE-A38E-68E0EB39CE2B}" type="datetimeFigureOut">
              <a:rPr lang="en-IN" smtClean="0"/>
              <a:t>05-01-2026</a:t>
            </a:fld>
            <a:endParaRPr lang="en-IN"/>
          </a:p>
        </p:txBody>
      </p:sp>
      <p:sp>
        <p:nvSpPr>
          <p:cNvPr id="5" name="Footer Placeholder 4">
            <a:extLst>
              <a:ext uri="{FF2B5EF4-FFF2-40B4-BE49-F238E27FC236}">
                <a16:creationId xmlns:a16="http://schemas.microsoft.com/office/drawing/2014/main" id="{B020FC29-1890-1F14-7095-889B344789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213B61B-4C49-55FE-003A-E8B795CB6020}"/>
              </a:ext>
            </a:extLst>
          </p:cNvPr>
          <p:cNvSpPr>
            <a:spLocks noGrp="1"/>
          </p:cNvSpPr>
          <p:nvPr>
            <p:ph type="sldNum" sz="quarter" idx="12"/>
          </p:nvPr>
        </p:nvSpPr>
        <p:spPr/>
        <p:txBody>
          <a:bodyPr/>
          <a:lstStyle/>
          <a:p>
            <a:fld id="{7C2E8637-7CDF-465E-8DDD-E30B1601A7E1}" type="slidenum">
              <a:rPr lang="en-IN" smtClean="0"/>
              <a:t>‹#›</a:t>
            </a:fld>
            <a:endParaRPr lang="en-IN"/>
          </a:p>
        </p:txBody>
      </p:sp>
    </p:spTree>
    <p:extLst>
      <p:ext uri="{BB962C8B-B14F-4D97-AF65-F5344CB8AC3E}">
        <p14:creationId xmlns:p14="http://schemas.microsoft.com/office/powerpoint/2010/main" val="3175504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00948-918D-EAAF-D2EF-07751DF988B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CDC5D83-C139-BD04-AD11-7401A35517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A49F6AA-CB65-4F09-365A-C11E2A47EA57}"/>
              </a:ext>
            </a:extLst>
          </p:cNvPr>
          <p:cNvSpPr>
            <a:spLocks noGrp="1"/>
          </p:cNvSpPr>
          <p:nvPr>
            <p:ph type="dt" sz="half" idx="10"/>
          </p:nvPr>
        </p:nvSpPr>
        <p:spPr/>
        <p:txBody>
          <a:bodyPr/>
          <a:lstStyle/>
          <a:p>
            <a:fld id="{64C6B67E-B362-4ABE-A38E-68E0EB39CE2B}" type="datetimeFigureOut">
              <a:rPr lang="en-IN" smtClean="0"/>
              <a:t>05-01-2026</a:t>
            </a:fld>
            <a:endParaRPr lang="en-IN"/>
          </a:p>
        </p:txBody>
      </p:sp>
      <p:sp>
        <p:nvSpPr>
          <p:cNvPr id="5" name="Footer Placeholder 4">
            <a:extLst>
              <a:ext uri="{FF2B5EF4-FFF2-40B4-BE49-F238E27FC236}">
                <a16:creationId xmlns:a16="http://schemas.microsoft.com/office/drawing/2014/main" id="{6D04CFCB-EE5A-7753-8675-7D86E3026BB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066807-B73D-DDCE-A31D-73595789B8F2}"/>
              </a:ext>
            </a:extLst>
          </p:cNvPr>
          <p:cNvSpPr>
            <a:spLocks noGrp="1"/>
          </p:cNvSpPr>
          <p:nvPr>
            <p:ph type="sldNum" sz="quarter" idx="12"/>
          </p:nvPr>
        </p:nvSpPr>
        <p:spPr/>
        <p:txBody>
          <a:bodyPr/>
          <a:lstStyle/>
          <a:p>
            <a:fld id="{7C2E8637-7CDF-465E-8DDD-E30B1601A7E1}" type="slidenum">
              <a:rPr lang="en-IN" smtClean="0"/>
              <a:t>‹#›</a:t>
            </a:fld>
            <a:endParaRPr lang="en-IN"/>
          </a:p>
        </p:txBody>
      </p:sp>
    </p:spTree>
    <p:extLst>
      <p:ext uri="{BB962C8B-B14F-4D97-AF65-F5344CB8AC3E}">
        <p14:creationId xmlns:p14="http://schemas.microsoft.com/office/powerpoint/2010/main" val="37597031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42348-AE04-0478-F9E3-1359C941CF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FACEBA6-2E9E-69C2-AC09-A00860F427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FC273C-F42F-E762-C7BE-2AB6A93F4271}"/>
              </a:ext>
            </a:extLst>
          </p:cNvPr>
          <p:cNvSpPr>
            <a:spLocks noGrp="1"/>
          </p:cNvSpPr>
          <p:nvPr>
            <p:ph type="dt" sz="half" idx="10"/>
          </p:nvPr>
        </p:nvSpPr>
        <p:spPr/>
        <p:txBody>
          <a:bodyPr/>
          <a:lstStyle/>
          <a:p>
            <a:fld id="{64C6B67E-B362-4ABE-A38E-68E0EB39CE2B}" type="datetimeFigureOut">
              <a:rPr lang="en-IN" smtClean="0"/>
              <a:t>05-01-2026</a:t>
            </a:fld>
            <a:endParaRPr lang="en-IN"/>
          </a:p>
        </p:txBody>
      </p:sp>
      <p:sp>
        <p:nvSpPr>
          <p:cNvPr id="5" name="Footer Placeholder 4">
            <a:extLst>
              <a:ext uri="{FF2B5EF4-FFF2-40B4-BE49-F238E27FC236}">
                <a16:creationId xmlns:a16="http://schemas.microsoft.com/office/drawing/2014/main" id="{A8AE93CC-FBAA-A96F-D8A0-49B29BFB0A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F43186-07D6-59EE-C674-2AD13252DE1A}"/>
              </a:ext>
            </a:extLst>
          </p:cNvPr>
          <p:cNvSpPr>
            <a:spLocks noGrp="1"/>
          </p:cNvSpPr>
          <p:nvPr>
            <p:ph type="sldNum" sz="quarter" idx="12"/>
          </p:nvPr>
        </p:nvSpPr>
        <p:spPr/>
        <p:txBody>
          <a:bodyPr/>
          <a:lstStyle/>
          <a:p>
            <a:fld id="{7C2E8637-7CDF-465E-8DDD-E30B1601A7E1}" type="slidenum">
              <a:rPr lang="en-IN" smtClean="0"/>
              <a:t>‹#›</a:t>
            </a:fld>
            <a:endParaRPr lang="en-IN"/>
          </a:p>
        </p:txBody>
      </p:sp>
    </p:spTree>
    <p:extLst>
      <p:ext uri="{BB962C8B-B14F-4D97-AF65-F5344CB8AC3E}">
        <p14:creationId xmlns:p14="http://schemas.microsoft.com/office/powerpoint/2010/main" val="237658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790E7-2CEB-85C8-DA91-2DEB3EC7A24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390233E-30F2-0974-CBB5-2E949E0DA4A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408EB80-5810-D92F-CAC5-F24A1987BF0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3721983-EB42-7727-FC42-5DC8455A2093}"/>
              </a:ext>
            </a:extLst>
          </p:cNvPr>
          <p:cNvSpPr>
            <a:spLocks noGrp="1"/>
          </p:cNvSpPr>
          <p:nvPr>
            <p:ph type="dt" sz="half" idx="10"/>
          </p:nvPr>
        </p:nvSpPr>
        <p:spPr/>
        <p:txBody>
          <a:bodyPr/>
          <a:lstStyle/>
          <a:p>
            <a:fld id="{64C6B67E-B362-4ABE-A38E-68E0EB39CE2B}" type="datetimeFigureOut">
              <a:rPr lang="en-IN" smtClean="0"/>
              <a:t>05-01-2026</a:t>
            </a:fld>
            <a:endParaRPr lang="en-IN"/>
          </a:p>
        </p:txBody>
      </p:sp>
      <p:sp>
        <p:nvSpPr>
          <p:cNvPr id="6" name="Footer Placeholder 5">
            <a:extLst>
              <a:ext uri="{FF2B5EF4-FFF2-40B4-BE49-F238E27FC236}">
                <a16:creationId xmlns:a16="http://schemas.microsoft.com/office/drawing/2014/main" id="{28A71776-0BAD-78BC-E4E3-B6E13F96FCD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71BC942-1F1A-8DC1-997B-67711259D367}"/>
              </a:ext>
            </a:extLst>
          </p:cNvPr>
          <p:cNvSpPr>
            <a:spLocks noGrp="1"/>
          </p:cNvSpPr>
          <p:nvPr>
            <p:ph type="sldNum" sz="quarter" idx="12"/>
          </p:nvPr>
        </p:nvSpPr>
        <p:spPr/>
        <p:txBody>
          <a:bodyPr/>
          <a:lstStyle/>
          <a:p>
            <a:fld id="{7C2E8637-7CDF-465E-8DDD-E30B1601A7E1}" type="slidenum">
              <a:rPr lang="en-IN" smtClean="0"/>
              <a:t>‹#›</a:t>
            </a:fld>
            <a:endParaRPr lang="en-IN"/>
          </a:p>
        </p:txBody>
      </p:sp>
    </p:spTree>
    <p:extLst>
      <p:ext uri="{BB962C8B-B14F-4D97-AF65-F5344CB8AC3E}">
        <p14:creationId xmlns:p14="http://schemas.microsoft.com/office/powerpoint/2010/main" val="3378289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8FEA5-B150-C47C-9116-B2C54B871D5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23496E0-02ED-6331-C23C-35B148BDCF5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08D246D-C472-00E0-2463-1ECC3EAF34D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80EF0B0-CEC6-F0B0-EB5A-E83D1D9C10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A60D2EF-0185-3A80-CEF0-6E25C8D7B1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B816D38-18A6-CF28-60F5-AE059F4B85C6}"/>
              </a:ext>
            </a:extLst>
          </p:cNvPr>
          <p:cNvSpPr>
            <a:spLocks noGrp="1"/>
          </p:cNvSpPr>
          <p:nvPr>
            <p:ph type="dt" sz="half" idx="10"/>
          </p:nvPr>
        </p:nvSpPr>
        <p:spPr/>
        <p:txBody>
          <a:bodyPr/>
          <a:lstStyle/>
          <a:p>
            <a:fld id="{64C6B67E-B362-4ABE-A38E-68E0EB39CE2B}" type="datetimeFigureOut">
              <a:rPr lang="en-IN" smtClean="0"/>
              <a:t>05-01-2026</a:t>
            </a:fld>
            <a:endParaRPr lang="en-IN"/>
          </a:p>
        </p:txBody>
      </p:sp>
      <p:sp>
        <p:nvSpPr>
          <p:cNvPr id="8" name="Footer Placeholder 7">
            <a:extLst>
              <a:ext uri="{FF2B5EF4-FFF2-40B4-BE49-F238E27FC236}">
                <a16:creationId xmlns:a16="http://schemas.microsoft.com/office/drawing/2014/main" id="{B4217B1A-3BA8-7AEF-3F04-8EA99043A02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A2F9D89-7068-92B4-4C0E-6F47FA07EA68}"/>
              </a:ext>
            </a:extLst>
          </p:cNvPr>
          <p:cNvSpPr>
            <a:spLocks noGrp="1"/>
          </p:cNvSpPr>
          <p:nvPr>
            <p:ph type="sldNum" sz="quarter" idx="12"/>
          </p:nvPr>
        </p:nvSpPr>
        <p:spPr/>
        <p:txBody>
          <a:bodyPr/>
          <a:lstStyle/>
          <a:p>
            <a:fld id="{7C2E8637-7CDF-465E-8DDD-E30B1601A7E1}" type="slidenum">
              <a:rPr lang="en-IN" smtClean="0"/>
              <a:t>‹#›</a:t>
            </a:fld>
            <a:endParaRPr lang="en-IN"/>
          </a:p>
        </p:txBody>
      </p:sp>
    </p:spTree>
    <p:extLst>
      <p:ext uri="{BB962C8B-B14F-4D97-AF65-F5344CB8AC3E}">
        <p14:creationId xmlns:p14="http://schemas.microsoft.com/office/powerpoint/2010/main" val="42002506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B8F30-46CD-4DE1-74D3-57F49497E66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21FC4A8-31D5-C37C-3D90-E7B4A6A6E519}"/>
              </a:ext>
            </a:extLst>
          </p:cNvPr>
          <p:cNvSpPr>
            <a:spLocks noGrp="1"/>
          </p:cNvSpPr>
          <p:nvPr>
            <p:ph type="dt" sz="half" idx="10"/>
          </p:nvPr>
        </p:nvSpPr>
        <p:spPr/>
        <p:txBody>
          <a:bodyPr/>
          <a:lstStyle/>
          <a:p>
            <a:fld id="{64C6B67E-B362-4ABE-A38E-68E0EB39CE2B}" type="datetimeFigureOut">
              <a:rPr lang="en-IN" smtClean="0"/>
              <a:t>05-01-2026</a:t>
            </a:fld>
            <a:endParaRPr lang="en-IN"/>
          </a:p>
        </p:txBody>
      </p:sp>
      <p:sp>
        <p:nvSpPr>
          <p:cNvPr id="4" name="Footer Placeholder 3">
            <a:extLst>
              <a:ext uri="{FF2B5EF4-FFF2-40B4-BE49-F238E27FC236}">
                <a16:creationId xmlns:a16="http://schemas.microsoft.com/office/drawing/2014/main" id="{8D78E6DC-C735-BA0A-F318-F86BC33B98F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0016C3D-14AF-12BB-ADEF-01A07D38B925}"/>
              </a:ext>
            </a:extLst>
          </p:cNvPr>
          <p:cNvSpPr>
            <a:spLocks noGrp="1"/>
          </p:cNvSpPr>
          <p:nvPr>
            <p:ph type="sldNum" sz="quarter" idx="12"/>
          </p:nvPr>
        </p:nvSpPr>
        <p:spPr/>
        <p:txBody>
          <a:bodyPr/>
          <a:lstStyle/>
          <a:p>
            <a:fld id="{7C2E8637-7CDF-465E-8DDD-E30B1601A7E1}" type="slidenum">
              <a:rPr lang="en-IN" smtClean="0"/>
              <a:t>‹#›</a:t>
            </a:fld>
            <a:endParaRPr lang="en-IN"/>
          </a:p>
        </p:txBody>
      </p:sp>
    </p:spTree>
    <p:extLst>
      <p:ext uri="{BB962C8B-B14F-4D97-AF65-F5344CB8AC3E}">
        <p14:creationId xmlns:p14="http://schemas.microsoft.com/office/powerpoint/2010/main" val="21686801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D87FF6B-CB05-70B8-F696-CD5B263F8CE8}"/>
              </a:ext>
            </a:extLst>
          </p:cNvPr>
          <p:cNvSpPr>
            <a:spLocks noGrp="1"/>
          </p:cNvSpPr>
          <p:nvPr>
            <p:ph type="dt" sz="half" idx="10"/>
          </p:nvPr>
        </p:nvSpPr>
        <p:spPr/>
        <p:txBody>
          <a:bodyPr/>
          <a:lstStyle/>
          <a:p>
            <a:fld id="{64C6B67E-B362-4ABE-A38E-68E0EB39CE2B}" type="datetimeFigureOut">
              <a:rPr lang="en-IN" smtClean="0"/>
              <a:t>05-01-2026</a:t>
            </a:fld>
            <a:endParaRPr lang="en-IN"/>
          </a:p>
        </p:txBody>
      </p:sp>
      <p:sp>
        <p:nvSpPr>
          <p:cNvPr id="3" name="Footer Placeholder 2">
            <a:extLst>
              <a:ext uri="{FF2B5EF4-FFF2-40B4-BE49-F238E27FC236}">
                <a16:creationId xmlns:a16="http://schemas.microsoft.com/office/drawing/2014/main" id="{0A1F6637-C4D7-5DD6-8DAB-EF9E7FFBA9E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E861D69-14FD-EF8F-4C4F-2073837CB58D}"/>
              </a:ext>
            </a:extLst>
          </p:cNvPr>
          <p:cNvSpPr>
            <a:spLocks noGrp="1"/>
          </p:cNvSpPr>
          <p:nvPr>
            <p:ph type="sldNum" sz="quarter" idx="12"/>
          </p:nvPr>
        </p:nvSpPr>
        <p:spPr/>
        <p:txBody>
          <a:bodyPr/>
          <a:lstStyle/>
          <a:p>
            <a:fld id="{7C2E8637-7CDF-465E-8DDD-E30B1601A7E1}" type="slidenum">
              <a:rPr lang="en-IN" smtClean="0"/>
              <a:t>‹#›</a:t>
            </a:fld>
            <a:endParaRPr lang="en-IN"/>
          </a:p>
        </p:txBody>
      </p:sp>
    </p:spTree>
    <p:extLst>
      <p:ext uri="{BB962C8B-B14F-4D97-AF65-F5344CB8AC3E}">
        <p14:creationId xmlns:p14="http://schemas.microsoft.com/office/powerpoint/2010/main" val="32644759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FEE54-25FA-70AD-4706-753DC9649E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D36F8F7-E7C1-1424-6C49-C7CB07AE53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95420AF-CCEF-364C-1793-2F3D1A9C6C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900422-9558-905A-EFE4-63148DCED86E}"/>
              </a:ext>
            </a:extLst>
          </p:cNvPr>
          <p:cNvSpPr>
            <a:spLocks noGrp="1"/>
          </p:cNvSpPr>
          <p:nvPr>
            <p:ph type="dt" sz="half" idx="10"/>
          </p:nvPr>
        </p:nvSpPr>
        <p:spPr/>
        <p:txBody>
          <a:bodyPr/>
          <a:lstStyle/>
          <a:p>
            <a:fld id="{64C6B67E-B362-4ABE-A38E-68E0EB39CE2B}" type="datetimeFigureOut">
              <a:rPr lang="en-IN" smtClean="0"/>
              <a:t>05-01-2026</a:t>
            </a:fld>
            <a:endParaRPr lang="en-IN"/>
          </a:p>
        </p:txBody>
      </p:sp>
      <p:sp>
        <p:nvSpPr>
          <p:cNvPr id="6" name="Footer Placeholder 5">
            <a:extLst>
              <a:ext uri="{FF2B5EF4-FFF2-40B4-BE49-F238E27FC236}">
                <a16:creationId xmlns:a16="http://schemas.microsoft.com/office/drawing/2014/main" id="{4631B916-06A5-2E46-796E-B8458DE2888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7FF1186-A763-C839-2CAD-45FD7ACEEFC4}"/>
              </a:ext>
            </a:extLst>
          </p:cNvPr>
          <p:cNvSpPr>
            <a:spLocks noGrp="1"/>
          </p:cNvSpPr>
          <p:nvPr>
            <p:ph type="sldNum" sz="quarter" idx="12"/>
          </p:nvPr>
        </p:nvSpPr>
        <p:spPr/>
        <p:txBody>
          <a:bodyPr/>
          <a:lstStyle/>
          <a:p>
            <a:fld id="{7C2E8637-7CDF-465E-8DDD-E30B1601A7E1}" type="slidenum">
              <a:rPr lang="en-IN" smtClean="0"/>
              <a:t>‹#›</a:t>
            </a:fld>
            <a:endParaRPr lang="en-IN"/>
          </a:p>
        </p:txBody>
      </p:sp>
    </p:spTree>
    <p:extLst>
      <p:ext uri="{BB962C8B-B14F-4D97-AF65-F5344CB8AC3E}">
        <p14:creationId xmlns:p14="http://schemas.microsoft.com/office/powerpoint/2010/main" val="3545320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50F40-5A11-390C-67C0-445186907E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C4928F2-B535-BB10-FFEE-7590063EF5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11B2CB5-EECD-730E-22FD-73FE39AA7E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508601-4CBB-AC5C-F0AE-EBAC206F512D}"/>
              </a:ext>
            </a:extLst>
          </p:cNvPr>
          <p:cNvSpPr>
            <a:spLocks noGrp="1"/>
          </p:cNvSpPr>
          <p:nvPr>
            <p:ph type="dt" sz="half" idx="10"/>
          </p:nvPr>
        </p:nvSpPr>
        <p:spPr/>
        <p:txBody>
          <a:bodyPr/>
          <a:lstStyle/>
          <a:p>
            <a:fld id="{64C6B67E-B362-4ABE-A38E-68E0EB39CE2B}" type="datetimeFigureOut">
              <a:rPr lang="en-IN" smtClean="0"/>
              <a:t>05-01-2026</a:t>
            </a:fld>
            <a:endParaRPr lang="en-IN"/>
          </a:p>
        </p:txBody>
      </p:sp>
      <p:sp>
        <p:nvSpPr>
          <p:cNvPr id="6" name="Footer Placeholder 5">
            <a:extLst>
              <a:ext uri="{FF2B5EF4-FFF2-40B4-BE49-F238E27FC236}">
                <a16:creationId xmlns:a16="http://schemas.microsoft.com/office/drawing/2014/main" id="{F2576633-C287-5A32-2790-EB22E815D59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D35B2A5-FDE6-8634-1083-ED4E50FF4DE8}"/>
              </a:ext>
            </a:extLst>
          </p:cNvPr>
          <p:cNvSpPr>
            <a:spLocks noGrp="1"/>
          </p:cNvSpPr>
          <p:nvPr>
            <p:ph type="sldNum" sz="quarter" idx="12"/>
          </p:nvPr>
        </p:nvSpPr>
        <p:spPr/>
        <p:txBody>
          <a:bodyPr/>
          <a:lstStyle/>
          <a:p>
            <a:fld id="{7C2E8637-7CDF-465E-8DDD-E30B1601A7E1}" type="slidenum">
              <a:rPr lang="en-IN" smtClean="0"/>
              <a:t>‹#›</a:t>
            </a:fld>
            <a:endParaRPr lang="en-IN"/>
          </a:p>
        </p:txBody>
      </p:sp>
    </p:spTree>
    <p:extLst>
      <p:ext uri="{BB962C8B-B14F-4D97-AF65-F5344CB8AC3E}">
        <p14:creationId xmlns:p14="http://schemas.microsoft.com/office/powerpoint/2010/main" val="5646018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6CC22-3495-1B95-8E70-223682D512E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1B794E6-312B-3B09-7ED6-8C7D11F45EE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C2125D6-4438-5DD7-129C-C421FC8ABF65}"/>
              </a:ext>
            </a:extLst>
          </p:cNvPr>
          <p:cNvSpPr>
            <a:spLocks noGrp="1"/>
          </p:cNvSpPr>
          <p:nvPr>
            <p:ph type="dt" sz="half" idx="10"/>
          </p:nvPr>
        </p:nvSpPr>
        <p:spPr/>
        <p:txBody>
          <a:bodyPr/>
          <a:lstStyle/>
          <a:p>
            <a:fld id="{64C6B67E-B362-4ABE-A38E-68E0EB39CE2B}" type="datetimeFigureOut">
              <a:rPr lang="en-IN" smtClean="0"/>
              <a:t>05-01-2026</a:t>
            </a:fld>
            <a:endParaRPr lang="en-IN"/>
          </a:p>
        </p:txBody>
      </p:sp>
      <p:sp>
        <p:nvSpPr>
          <p:cNvPr id="5" name="Footer Placeholder 4">
            <a:extLst>
              <a:ext uri="{FF2B5EF4-FFF2-40B4-BE49-F238E27FC236}">
                <a16:creationId xmlns:a16="http://schemas.microsoft.com/office/drawing/2014/main" id="{FF728141-53F6-C11A-354B-402BB6F032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956B21-3F99-C9FC-8F27-C96383D94C8F}"/>
              </a:ext>
            </a:extLst>
          </p:cNvPr>
          <p:cNvSpPr>
            <a:spLocks noGrp="1"/>
          </p:cNvSpPr>
          <p:nvPr>
            <p:ph type="sldNum" sz="quarter" idx="12"/>
          </p:nvPr>
        </p:nvSpPr>
        <p:spPr/>
        <p:txBody>
          <a:bodyPr/>
          <a:lstStyle/>
          <a:p>
            <a:fld id="{7C2E8637-7CDF-465E-8DDD-E30B1601A7E1}" type="slidenum">
              <a:rPr lang="en-IN" smtClean="0"/>
              <a:t>‹#›</a:t>
            </a:fld>
            <a:endParaRPr lang="en-IN"/>
          </a:p>
        </p:txBody>
      </p:sp>
    </p:spTree>
    <p:extLst>
      <p:ext uri="{BB962C8B-B14F-4D97-AF65-F5344CB8AC3E}">
        <p14:creationId xmlns:p14="http://schemas.microsoft.com/office/powerpoint/2010/main" val="4018645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A50654-4717-A5AD-2FB4-32267574587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E93E35A-3F0F-DB00-D792-13503B326E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BDAEA9C-FF39-6387-B27B-EBFD9EA9CD78}"/>
              </a:ext>
            </a:extLst>
          </p:cNvPr>
          <p:cNvSpPr>
            <a:spLocks noGrp="1"/>
          </p:cNvSpPr>
          <p:nvPr>
            <p:ph type="dt" sz="half" idx="10"/>
          </p:nvPr>
        </p:nvSpPr>
        <p:spPr/>
        <p:txBody>
          <a:bodyPr/>
          <a:lstStyle/>
          <a:p>
            <a:fld id="{64C6B67E-B362-4ABE-A38E-68E0EB39CE2B}" type="datetimeFigureOut">
              <a:rPr lang="en-IN" smtClean="0"/>
              <a:t>05-01-2026</a:t>
            </a:fld>
            <a:endParaRPr lang="en-IN"/>
          </a:p>
        </p:txBody>
      </p:sp>
      <p:sp>
        <p:nvSpPr>
          <p:cNvPr id="5" name="Footer Placeholder 4">
            <a:extLst>
              <a:ext uri="{FF2B5EF4-FFF2-40B4-BE49-F238E27FC236}">
                <a16:creationId xmlns:a16="http://schemas.microsoft.com/office/drawing/2014/main" id="{D399EA5B-792A-AB3E-E026-DF3C1DEF164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5813C9-6C60-0BC2-000E-2BE77A36E72A}"/>
              </a:ext>
            </a:extLst>
          </p:cNvPr>
          <p:cNvSpPr>
            <a:spLocks noGrp="1"/>
          </p:cNvSpPr>
          <p:nvPr>
            <p:ph type="sldNum" sz="quarter" idx="12"/>
          </p:nvPr>
        </p:nvSpPr>
        <p:spPr/>
        <p:txBody>
          <a:bodyPr/>
          <a:lstStyle/>
          <a:p>
            <a:fld id="{7C2E8637-7CDF-465E-8DDD-E30B1601A7E1}" type="slidenum">
              <a:rPr lang="en-IN" smtClean="0"/>
              <a:t>‹#›</a:t>
            </a:fld>
            <a:endParaRPr lang="en-IN"/>
          </a:p>
        </p:txBody>
      </p:sp>
    </p:spTree>
    <p:extLst>
      <p:ext uri="{BB962C8B-B14F-4D97-AF65-F5344CB8AC3E}">
        <p14:creationId xmlns:p14="http://schemas.microsoft.com/office/powerpoint/2010/main" val="39583363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8875C4-75FD-12AA-D6F7-5B03F3115C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3232004-DF81-9393-D09F-40678B959C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DAC7CA-8AAE-5773-5DC8-B5588DA6FC9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C6B67E-B362-4ABE-A38E-68E0EB39CE2B}" type="datetimeFigureOut">
              <a:rPr lang="en-IN" smtClean="0"/>
              <a:t>05-01-2026</a:t>
            </a:fld>
            <a:endParaRPr lang="en-IN"/>
          </a:p>
        </p:txBody>
      </p:sp>
      <p:sp>
        <p:nvSpPr>
          <p:cNvPr id="5" name="Footer Placeholder 4">
            <a:extLst>
              <a:ext uri="{FF2B5EF4-FFF2-40B4-BE49-F238E27FC236}">
                <a16:creationId xmlns:a16="http://schemas.microsoft.com/office/drawing/2014/main" id="{E425311F-1DF1-E0F3-66F7-884D6988FE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1933FC9-5BA9-6C1A-1711-DCCAF27777B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2E8637-7CDF-465E-8DDD-E30B1601A7E1}" type="slidenum">
              <a:rPr lang="en-IN" smtClean="0"/>
              <a:t>‹#›</a:t>
            </a:fld>
            <a:endParaRPr lang="en-IN"/>
          </a:p>
        </p:txBody>
      </p:sp>
    </p:spTree>
    <p:extLst>
      <p:ext uri="{BB962C8B-B14F-4D97-AF65-F5344CB8AC3E}">
        <p14:creationId xmlns:p14="http://schemas.microsoft.com/office/powerpoint/2010/main" val="27135886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E5BA2-52E9-CCEE-7AA2-F2D5E5F2E06C}"/>
              </a:ext>
            </a:extLst>
          </p:cNvPr>
          <p:cNvSpPr>
            <a:spLocks noGrp="1"/>
          </p:cNvSpPr>
          <p:nvPr>
            <p:ph type="ctrTitle"/>
          </p:nvPr>
        </p:nvSpPr>
        <p:spPr>
          <a:xfrm>
            <a:off x="1175657" y="4660220"/>
            <a:ext cx="9144000" cy="2387600"/>
          </a:xfrm>
        </p:spPr>
        <p:txBody>
          <a:bodyPr>
            <a:normAutofit/>
          </a:bodyPr>
          <a:lstStyle/>
          <a:p>
            <a:br>
              <a:rPr lang="en-IN" b="1">
                <a:solidFill>
                  <a:schemeClr val="accent1">
                    <a:lumMod val="75000"/>
                  </a:schemeClr>
                </a:solidFill>
                <a:latin typeface="Aptos Display" panose="020B0004020202020204" pitchFamily="34" charset="0"/>
                <a:cs typeface="Times New Roman" panose="02020603050405020304" pitchFamily="18" charset="0"/>
              </a:rPr>
            </a:br>
            <a:endParaRPr lang="en-IN"/>
          </a:p>
        </p:txBody>
      </p:sp>
      <p:sp>
        <p:nvSpPr>
          <p:cNvPr id="3" name="Subtitle 2">
            <a:extLst>
              <a:ext uri="{FF2B5EF4-FFF2-40B4-BE49-F238E27FC236}">
                <a16:creationId xmlns:a16="http://schemas.microsoft.com/office/drawing/2014/main" id="{15BE002E-9CFE-1510-28B1-07DCDA6EF51F}"/>
              </a:ext>
            </a:extLst>
          </p:cNvPr>
          <p:cNvSpPr>
            <a:spLocks noGrp="1"/>
          </p:cNvSpPr>
          <p:nvPr>
            <p:ph type="subTitle" idx="1"/>
          </p:nvPr>
        </p:nvSpPr>
        <p:spPr>
          <a:xfrm>
            <a:off x="1077686" y="542018"/>
            <a:ext cx="9144000" cy="1655762"/>
          </a:xfrm>
        </p:spPr>
        <p:txBody>
          <a:bodyPr>
            <a:normAutofit/>
          </a:bodyPr>
          <a:lstStyle/>
          <a:p>
            <a:r>
              <a:rPr lang="en-IN" sz="4400" b="1">
                <a:solidFill>
                  <a:srgbClr val="7030A0"/>
                </a:solidFill>
                <a:latin typeface="Aptos Display" panose="020B0004020202020204" pitchFamily="34" charset="0"/>
                <a:cs typeface="Times New Roman" panose="02020603050405020304" pitchFamily="18" charset="0"/>
              </a:rPr>
              <a:t>Cloud-Enabled AI Framework for </a:t>
            </a:r>
            <a:br>
              <a:rPr lang="en-IN" sz="4400" b="1">
                <a:solidFill>
                  <a:srgbClr val="7030A0"/>
                </a:solidFill>
                <a:latin typeface="Aptos Display" panose="020B0004020202020204" pitchFamily="34" charset="0"/>
                <a:cs typeface="Times New Roman" panose="02020603050405020304" pitchFamily="18" charset="0"/>
              </a:rPr>
            </a:br>
            <a:r>
              <a:rPr lang="en-IN" sz="4400" b="1">
                <a:solidFill>
                  <a:srgbClr val="7030A0"/>
                </a:solidFill>
                <a:latin typeface="Aptos Display" panose="020B0004020202020204" pitchFamily="34" charset="0"/>
                <a:cs typeface="Times New Roman" panose="02020603050405020304" pitchFamily="18" charset="0"/>
              </a:rPr>
              <a:t>SDLC Optimization</a:t>
            </a:r>
            <a:endParaRPr lang="en-IN" sz="4400">
              <a:solidFill>
                <a:srgbClr val="7030A0"/>
              </a:solidFill>
            </a:endParaRPr>
          </a:p>
        </p:txBody>
      </p:sp>
      <p:sp>
        <p:nvSpPr>
          <p:cNvPr id="5" name="TextBox 4">
            <a:extLst>
              <a:ext uri="{FF2B5EF4-FFF2-40B4-BE49-F238E27FC236}">
                <a16:creationId xmlns:a16="http://schemas.microsoft.com/office/drawing/2014/main" id="{5C836D30-5CBB-D9D2-6559-5D3EB0F2F8E1}"/>
              </a:ext>
            </a:extLst>
          </p:cNvPr>
          <p:cNvSpPr txBox="1"/>
          <p:nvPr/>
        </p:nvSpPr>
        <p:spPr>
          <a:xfrm>
            <a:off x="816429" y="2991698"/>
            <a:ext cx="6096000" cy="3139321"/>
          </a:xfrm>
          <a:prstGeom prst="rect">
            <a:avLst/>
          </a:prstGeom>
          <a:noFill/>
        </p:spPr>
        <p:txBody>
          <a:bodyPr wrap="square">
            <a:spAutoFit/>
          </a:bodyPr>
          <a:lstStyle/>
          <a:p>
            <a:r>
              <a:rPr lang="en-US" b="1" dirty="0">
                <a:latin typeface="Aptos Display" panose="020B0004020202020204" pitchFamily="34" charset="0"/>
                <a:cs typeface="Times New Roman" panose="02020603050405020304" pitchFamily="18" charset="0"/>
              </a:rPr>
              <a:t>Guide</a:t>
            </a:r>
          </a:p>
          <a:p>
            <a:pPr algn="just"/>
            <a:r>
              <a:rPr lang="en-US" dirty="0">
                <a:latin typeface="Aptos Display" panose="020B0004020202020204" pitchFamily="34" charset="0"/>
                <a:cs typeface="Times New Roman" panose="02020603050405020304" pitchFamily="18" charset="0"/>
              </a:rPr>
              <a:t>Dr. M. Parthiban</a:t>
            </a:r>
          </a:p>
          <a:p>
            <a:pPr algn="just"/>
            <a:r>
              <a:rPr lang="en-US" dirty="0">
                <a:latin typeface="Aptos Display" panose="020B0004020202020204" pitchFamily="34" charset="0"/>
                <a:cs typeface="Times New Roman" panose="02020603050405020304" pitchFamily="18" charset="0"/>
              </a:rPr>
              <a:t>    Professor</a:t>
            </a:r>
          </a:p>
          <a:p>
            <a:endParaRPr lang="en-US" dirty="0">
              <a:latin typeface="Aptos Display" panose="020B0004020202020204" pitchFamily="34" charset="0"/>
              <a:cs typeface="Times New Roman" panose="02020603050405020304" pitchFamily="18" charset="0"/>
            </a:endParaRPr>
          </a:p>
          <a:p>
            <a:endParaRPr lang="en-US" dirty="0">
              <a:latin typeface="Aptos Display" panose="020B0004020202020204" pitchFamily="34" charset="0"/>
              <a:cs typeface="Times New Roman" panose="02020603050405020304" pitchFamily="18" charset="0"/>
            </a:endParaRPr>
          </a:p>
          <a:p>
            <a:r>
              <a:rPr lang="en-US" b="1" dirty="0">
                <a:latin typeface="Aptos Display" panose="020B0004020202020204" pitchFamily="34" charset="0"/>
                <a:cs typeface="Times New Roman" panose="02020603050405020304" pitchFamily="18" charset="0"/>
              </a:rPr>
              <a:t>Team Members</a:t>
            </a:r>
          </a:p>
          <a:p>
            <a:r>
              <a:rPr lang="en-US" dirty="0">
                <a:latin typeface="Aptos Display" panose="020B0004020202020204" pitchFamily="34" charset="0"/>
                <a:cs typeface="Times New Roman" panose="02020603050405020304" pitchFamily="18" charset="0"/>
              </a:rPr>
              <a:t> </a:t>
            </a:r>
          </a:p>
          <a:p>
            <a:pPr marL="342900" indent="-342900">
              <a:buAutoNum type="arabicPeriod"/>
            </a:pPr>
            <a:r>
              <a:rPr lang="en-US" dirty="0">
                <a:latin typeface="Aptos Display" panose="020B0004020202020204" pitchFamily="34" charset="0"/>
                <a:cs typeface="Times New Roman" panose="02020603050405020304" pitchFamily="18" charset="0"/>
              </a:rPr>
              <a:t>M. Hari Priyanka </a:t>
            </a:r>
          </a:p>
          <a:p>
            <a:pPr marL="342900" indent="-342900">
              <a:buAutoNum type="arabicPeriod"/>
            </a:pPr>
            <a:r>
              <a:rPr lang="en-US" dirty="0">
                <a:latin typeface="Aptos Display" panose="020B0004020202020204" pitchFamily="34" charset="0"/>
                <a:cs typeface="Times New Roman" panose="02020603050405020304" pitchFamily="18" charset="0"/>
              </a:rPr>
              <a:t>B. Pavan Teja</a:t>
            </a:r>
          </a:p>
          <a:p>
            <a:pPr marL="342900" indent="-342900">
              <a:buAutoNum type="arabicPeriod"/>
            </a:pPr>
            <a:r>
              <a:rPr lang="en-US" dirty="0">
                <a:latin typeface="Aptos Display" panose="020B0004020202020204" pitchFamily="34" charset="0"/>
                <a:cs typeface="Times New Roman" panose="02020603050405020304" pitchFamily="18" charset="0"/>
              </a:rPr>
              <a:t>T. Ratna Kumari</a:t>
            </a:r>
          </a:p>
          <a:p>
            <a:pPr marL="342900" indent="-342900">
              <a:buAutoNum type="arabicPeriod"/>
            </a:pPr>
            <a:r>
              <a:rPr lang="en-US" dirty="0">
                <a:latin typeface="Aptos Display" panose="020B0004020202020204" pitchFamily="34" charset="0"/>
                <a:cs typeface="Times New Roman" panose="02020603050405020304" pitchFamily="18" charset="0"/>
              </a:rPr>
              <a:t>N. Subba Lakshmi</a:t>
            </a:r>
          </a:p>
        </p:txBody>
      </p:sp>
      <p:sp>
        <p:nvSpPr>
          <p:cNvPr id="7" name="TextBox 6">
            <a:extLst>
              <a:ext uri="{FF2B5EF4-FFF2-40B4-BE49-F238E27FC236}">
                <a16:creationId xmlns:a16="http://schemas.microsoft.com/office/drawing/2014/main" id="{DF7259EB-0B01-18C2-1D73-F2FE826D5EFA}"/>
              </a:ext>
            </a:extLst>
          </p:cNvPr>
          <p:cNvSpPr txBox="1"/>
          <p:nvPr/>
        </p:nvSpPr>
        <p:spPr>
          <a:xfrm>
            <a:off x="500741" y="1369899"/>
            <a:ext cx="11495315" cy="1107996"/>
          </a:xfrm>
          <a:prstGeom prst="rect">
            <a:avLst/>
          </a:prstGeom>
          <a:noFill/>
        </p:spPr>
        <p:txBody>
          <a:bodyPr wrap="square">
            <a:spAutoFit/>
          </a:bodyPr>
          <a:lstStyle/>
          <a:p>
            <a:pPr algn="ctr"/>
            <a:endParaRPr lang="en-IN" sz="3600" b="1">
              <a:solidFill>
                <a:schemeClr val="accent1">
                  <a:lumMod val="75000"/>
                </a:schemeClr>
              </a:solidFill>
              <a:latin typeface="Aptos Display" panose="020B0004020202020204" pitchFamily="34" charset="0"/>
              <a:cs typeface="Times New Roman" panose="02020603050405020304" pitchFamily="18" charset="0"/>
            </a:endParaRPr>
          </a:p>
          <a:p>
            <a:pPr algn="ctr"/>
            <a:endParaRPr lang="en-IN" sz="1200" b="1">
              <a:solidFill>
                <a:schemeClr val="accent1">
                  <a:lumMod val="75000"/>
                </a:schemeClr>
              </a:solidFill>
              <a:latin typeface="Aptos Display" panose="020B0004020202020204" pitchFamily="34" charset="0"/>
              <a:cs typeface="Times New Roman" panose="02020603050405020304" pitchFamily="18" charset="0"/>
            </a:endParaRPr>
          </a:p>
          <a:p>
            <a:r>
              <a:rPr lang="en-US"/>
              <a:t>A systematic review of AI-powered frameworks for optimizing software development lifecycle through cloud integration</a:t>
            </a:r>
            <a:endParaRPr lang="en-IN" sz="3600" b="1">
              <a:solidFill>
                <a:schemeClr val="accent1">
                  <a:lumMod val="75000"/>
                </a:schemeClr>
              </a:solidFill>
              <a:latin typeface="Aptos Display" panose="020B0004020202020204" pitchFamily="34" charset="0"/>
              <a:cs typeface="Times New Roman" panose="02020603050405020304" pitchFamily="18" charset="0"/>
            </a:endParaRPr>
          </a:p>
        </p:txBody>
      </p:sp>
      <p:pic>
        <p:nvPicPr>
          <p:cNvPr id="4" name="Picture 3" descr="A screenshot of a cell phone&#10;&#10;AI-generated content may be incorrect.">
            <a:extLst>
              <a:ext uri="{FF2B5EF4-FFF2-40B4-BE49-F238E27FC236}">
                <a16:creationId xmlns:a16="http://schemas.microsoft.com/office/drawing/2014/main" id="{2061B6F3-3E3E-DE1A-CC73-8519C31CC5E0}"/>
              </a:ext>
            </a:extLst>
          </p:cNvPr>
          <p:cNvPicPr>
            <a:picLocks noChangeAspect="1"/>
          </p:cNvPicPr>
          <p:nvPr/>
        </p:nvPicPr>
        <p:blipFill>
          <a:blip r:embed="rId2"/>
          <a:stretch>
            <a:fillRect/>
          </a:stretch>
        </p:blipFill>
        <p:spPr>
          <a:xfrm>
            <a:off x="6104531" y="2480977"/>
            <a:ext cx="4736909" cy="3806730"/>
          </a:xfrm>
          <a:prstGeom prst="rect">
            <a:avLst/>
          </a:prstGeom>
        </p:spPr>
      </p:pic>
    </p:spTree>
    <p:extLst>
      <p:ext uri="{BB962C8B-B14F-4D97-AF65-F5344CB8AC3E}">
        <p14:creationId xmlns:p14="http://schemas.microsoft.com/office/powerpoint/2010/main" val="1546269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59FB14-9FC8-5E3E-0BB1-3FBEA35186C4}"/>
              </a:ext>
            </a:extLst>
          </p:cNvPr>
          <p:cNvSpPr txBox="1"/>
          <p:nvPr/>
        </p:nvSpPr>
        <p:spPr>
          <a:xfrm>
            <a:off x="215662" y="2721114"/>
            <a:ext cx="2113470" cy="707886"/>
          </a:xfrm>
          <a:prstGeom prst="rect">
            <a:avLst/>
          </a:prstGeom>
          <a:noFill/>
        </p:spPr>
        <p:txBody>
          <a:bodyPr wrap="square" rtlCol="0">
            <a:spAutoFit/>
          </a:bodyPr>
          <a:lstStyle/>
          <a:p>
            <a:r>
              <a:rPr lang="en-IN" sz="4000" b="1">
                <a:solidFill>
                  <a:schemeClr val="accent1">
                    <a:lumMod val="75000"/>
                  </a:schemeClr>
                </a:solidFill>
              </a:rPr>
              <a:t>Contents</a:t>
            </a:r>
          </a:p>
        </p:txBody>
      </p:sp>
      <p:cxnSp>
        <p:nvCxnSpPr>
          <p:cNvPr id="3" name="Straight Connector 2">
            <a:extLst>
              <a:ext uri="{FF2B5EF4-FFF2-40B4-BE49-F238E27FC236}">
                <a16:creationId xmlns:a16="http://schemas.microsoft.com/office/drawing/2014/main" id="{547096AC-9740-462F-D05D-1FD4CF63517D}"/>
              </a:ext>
            </a:extLst>
          </p:cNvPr>
          <p:cNvCxnSpPr>
            <a:cxnSpLocks/>
          </p:cNvCxnSpPr>
          <p:nvPr/>
        </p:nvCxnSpPr>
        <p:spPr>
          <a:xfrm>
            <a:off x="471921" y="3428329"/>
            <a:ext cx="1475117" cy="0"/>
          </a:xfrm>
          <a:prstGeom prst="line">
            <a:avLst/>
          </a:prstGeom>
        </p:spPr>
        <p:style>
          <a:lnRef idx="1">
            <a:schemeClr val="accent6"/>
          </a:lnRef>
          <a:fillRef idx="0">
            <a:schemeClr val="accent6"/>
          </a:fillRef>
          <a:effectRef idx="0">
            <a:schemeClr val="accent6"/>
          </a:effectRef>
          <a:fontRef idx="minor">
            <a:schemeClr val="tx1"/>
          </a:fontRef>
        </p:style>
      </p:cxnSp>
      <p:sp>
        <p:nvSpPr>
          <p:cNvPr id="4" name="Rectangle 3">
            <a:extLst>
              <a:ext uri="{FF2B5EF4-FFF2-40B4-BE49-F238E27FC236}">
                <a16:creationId xmlns:a16="http://schemas.microsoft.com/office/drawing/2014/main" id="{77139C63-EFA1-8BD1-6692-43F357864009}"/>
              </a:ext>
            </a:extLst>
          </p:cNvPr>
          <p:cNvSpPr/>
          <p:nvPr/>
        </p:nvSpPr>
        <p:spPr>
          <a:xfrm flipH="1">
            <a:off x="2737159" y="0"/>
            <a:ext cx="45719" cy="6857992"/>
          </a:xfrm>
          <a:prstGeom prst="rect">
            <a:avLst/>
          </a:prstGeom>
          <a:solidFill>
            <a:srgbClr val="00B050"/>
          </a:solidFill>
          <a:ln>
            <a:solidFill>
              <a:srgbClr val="00B050"/>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382D11C4-81AB-96DA-1520-7C91AE5175A1}"/>
              </a:ext>
            </a:extLst>
          </p:cNvPr>
          <p:cNvSpPr/>
          <p:nvPr/>
        </p:nvSpPr>
        <p:spPr>
          <a:xfrm>
            <a:off x="2782878" y="-380999"/>
            <a:ext cx="9409122" cy="7246302"/>
          </a:xfrm>
          <a:prstGeom prst="rect">
            <a:avLst/>
          </a:prstGeom>
          <a:solidFill>
            <a:schemeClr val="accent3">
              <a:lumMod val="20000"/>
              <a:lumOff val="80000"/>
            </a:schemeClr>
          </a:solidFill>
          <a:ln>
            <a:solidFill>
              <a:schemeClr val="accent3">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Diagonal Corners Rounded 5">
            <a:extLst>
              <a:ext uri="{FF2B5EF4-FFF2-40B4-BE49-F238E27FC236}">
                <a16:creationId xmlns:a16="http://schemas.microsoft.com/office/drawing/2014/main" id="{1C977E91-9DBF-CB68-2215-AB57228AF9AC}"/>
              </a:ext>
            </a:extLst>
          </p:cNvPr>
          <p:cNvSpPr/>
          <p:nvPr/>
        </p:nvSpPr>
        <p:spPr>
          <a:xfrm>
            <a:off x="3249572" y="34687"/>
            <a:ext cx="6851056" cy="589126"/>
          </a:xfrm>
          <a:prstGeom prst="round2DiagRect">
            <a:avLst/>
          </a:prstGeom>
          <a:solidFill>
            <a:schemeClr val="bg1"/>
          </a:solidFill>
          <a:ln>
            <a:solidFill>
              <a:schemeClr val="bg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C89A9FEC-3699-786B-A381-528B5CD5D6CD}"/>
              </a:ext>
            </a:extLst>
          </p:cNvPr>
          <p:cNvSpPr/>
          <p:nvPr/>
        </p:nvSpPr>
        <p:spPr>
          <a:xfrm>
            <a:off x="3302209" y="97608"/>
            <a:ext cx="526418" cy="510532"/>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1</a:t>
            </a:r>
            <a:endParaRPr lang="en-IN"/>
          </a:p>
        </p:txBody>
      </p:sp>
      <p:sp>
        <p:nvSpPr>
          <p:cNvPr id="9" name="Rectangle: Diagonal Corners Rounded 8">
            <a:extLst>
              <a:ext uri="{FF2B5EF4-FFF2-40B4-BE49-F238E27FC236}">
                <a16:creationId xmlns:a16="http://schemas.microsoft.com/office/drawing/2014/main" id="{F7D4C24D-E7B9-9D19-3637-ADB2453AE658}"/>
              </a:ext>
            </a:extLst>
          </p:cNvPr>
          <p:cNvSpPr/>
          <p:nvPr/>
        </p:nvSpPr>
        <p:spPr>
          <a:xfrm>
            <a:off x="3229931" y="881063"/>
            <a:ext cx="6851056" cy="589126"/>
          </a:xfrm>
          <a:prstGeom prst="round2DiagRect">
            <a:avLst/>
          </a:prstGeom>
          <a:solidFill>
            <a:schemeClr val="bg1"/>
          </a:solidFill>
          <a:ln>
            <a:solidFill>
              <a:schemeClr val="bg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51238A78-3FC0-0EDF-14F8-3F06DFDEDC66}"/>
              </a:ext>
            </a:extLst>
          </p:cNvPr>
          <p:cNvSpPr/>
          <p:nvPr/>
        </p:nvSpPr>
        <p:spPr>
          <a:xfrm>
            <a:off x="3272339" y="911863"/>
            <a:ext cx="526418" cy="540343"/>
          </a:xfrm>
          <a:prstGeom prst="ellips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2</a:t>
            </a:r>
            <a:endParaRPr lang="en-IN"/>
          </a:p>
        </p:txBody>
      </p:sp>
      <p:sp>
        <p:nvSpPr>
          <p:cNvPr id="12" name="Rectangle: Diagonal Corners Rounded 11">
            <a:extLst>
              <a:ext uri="{FF2B5EF4-FFF2-40B4-BE49-F238E27FC236}">
                <a16:creationId xmlns:a16="http://schemas.microsoft.com/office/drawing/2014/main" id="{6E213059-F3BC-0C69-F3F2-D339B23AFB0D}"/>
              </a:ext>
            </a:extLst>
          </p:cNvPr>
          <p:cNvSpPr/>
          <p:nvPr/>
        </p:nvSpPr>
        <p:spPr>
          <a:xfrm>
            <a:off x="3225414" y="1805410"/>
            <a:ext cx="6851056" cy="589126"/>
          </a:xfrm>
          <a:prstGeom prst="round2DiagRect">
            <a:avLst/>
          </a:prstGeom>
          <a:solidFill>
            <a:schemeClr val="bg1"/>
          </a:solidFill>
          <a:ln>
            <a:solidFill>
              <a:schemeClr val="bg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56BA5A0C-F9BA-AF83-F057-1777575B838D}"/>
              </a:ext>
            </a:extLst>
          </p:cNvPr>
          <p:cNvSpPr/>
          <p:nvPr/>
        </p:nvSpPr>
        <p:spPr>
          <a:xfrm>
            <a:off x="3309513" y="1861705"/>
            <a:ext cx="526418" cy="502566"/>
          </a:xfrm>
          <a:prstGeom prst="ellipse">
            <a:avLst/>
          </a:prstGeom>
          <a:solidFill>
            <a:srgbClr val="FF00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3</a:t>
            </a:r>
            <a:endParaRPr lang="en-IN"/>
          </a:p>
        </p:txBody>
      </p:sp>
      <p:sp>
        <p:nvSpPr>
          <p:cNvPr id="15" name="Rectangle: Diagonal Corners Rounded 14">
            <a:extLst>
              <a:ext uri="{FF2B5EF4-FFF2-40B4-BE49-F238E27FC236}">
                <a16:creationId xmlns:a16="http://schemas.microsoft.com/office/drawing/2014/main" id="{54337B85-19E6-6869-5635-6FD8B166841E}"/>
              </a:ext>
            </a:extLst>
          </p:cNvPr>
          <p:cNvSpPr/>
          <p:nvPr/>
        </p:nvSpPr>
        <p:spPr>
          <a:xfrm>
            <a:off x="3278161" y="2626816"/>
            <a:ext cx="6851056" cy="589126"/>
          </a:xfrm>
          <a:prstGeom prst="round2DiagRect">
            <a:avLst/>
          </a:prstGeom>
          <a:solidFill>
            <a:schemeClr val="bg1"/>
          </a:solidFill>
          <a:ln>
            <a:solidFill>
              <a:schemeClr val="bg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4CDCA663-5A2A-EE7E-E167-9061E396986D}"/>
              </a:ext>
            </a:extLst>
          </p:cNvPr>
          <p:cNvSpPr/>
          <p:nvPr/>
        </p:nvSpPr>
        <p:spPr>
          <a:xfrm>
            <a:off x="3315649" y="2630300"/>
            <a:ext cx="543048" cy="547319"/>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4</a:t>
            </a:r>
            <a:endParaRPr lang="en-IN"/>
          </a:p>
        </p:txBody>
      </p:sp>
      <p:sp>
        <p:nvSpPr>
          <p:cNvPr id="18" name="Rectangle: Diagonal Corners Rounded 17">
            <a:extLst>
              <a:ext uri="{FF2B5EF4-FFF2-40B4-BE49-F238E27FC236}">
                <a16:creationId xmlns:a16="http://schemas.microsoft.com/office/drawing/2014/main" id="{F3AEBCC1-7597-746F-0B2D-CC0D9C847D53}"/>
              </a:ext>
            </a:extLst>
          </p:cNvPr>
          <p:cNvSpPr/>
          <p:nvPr/>
        </p:nvSpPr>
        <p:spPr>
          <a:xfrm>
            <a:off x="3249572" y="3472928"/>
            <a:ext cx="6851056" cy="589126"/>
          </a:xfrm>
          <a:prstGeom prst="round2DiagRect">
            <a:avLst/>
          </a:prstGeom>
          <a:solidFill>
            <a:schemeClr val="bg1"/>
          </a:solidFill>
          <a:ln>
            <a:solidFill>
              <a:schemeClr val="bg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7CE64AB9-8692-2A7D-4BCE-C8F1B05F438A}"/>
              </a:ext>
            </a:extLst>
          </p:cNvPr>
          <p:cNvSpPr/>
          <p:nvPr/>
        </p:nvSpPr>
        <p:spPr>
          <a:xfrm>
            <a:off x="3298978" y="3488214"/>
            <a:ext cx="526418" cy="536272"/>
          </a:xfrm>
          <a:prstGeom prst="ellipse">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5</a:t>
            </a:r>
            <a:endParaRPr lang="en-IN"/>
          </a:p>
        </p:txBody>
      </p:sp>
      <p:sp>
        <p:nvSpPr>
          <p:cNvPr id="21" name="Rectangle: Diagonal Corners Rounded 20">
            <a:extLst>
              <a:ext uri="{FF2B5EF4-FFF2-40B4-BE49-F238E27FC236}">
                <a16:creationId xmlns:a16="http://schemas.microsoft.com/office/drawing/2014/main" id="{B6CCCA12-6AF1-3BAA-1F6D-DA3CC4187C19}"/>
              </a:ext>
            </a:extLst>
          </p:cNvPr>
          <p:cNvSpPr/>
          <p:nvPr/>
        </p:nvSpPr>
        <p:spPr>
          <a:xfrm>
            <a:off x="3249572" y="4275042"/>
            <a:ext cx="6851056" cy="589126"/>
          </a:xfrm>
          <a:prstGeom prst="round2DiagRect">
            <a:avLst/>
          </a:prstGeom>
          <a:solidFill>
            <a:schemeClr val="bg1"/>
          </a:solidFill>
          <a:ln>
            <a:solidFill>
              <a:schemeClr val="bg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Oval 21">
            <a:extLst>
              <a:ext uri="{FF2B5EF4-FFF2-40B4-BE49-F238E27FC236}">
                <a16:creationId xmlns:a16="http://schemas.microsoft.com/office/drawing/2014/main" id="{F8D50970-3810-E02C-828F-72BFA7DA6401}"/>
              </a:ext>
            </a:extLst>
          </p:cNvPr>
          <p:cNvSpPr/>
          <p:nvPr/>
        </p:nvSpPr>
        <p:spPr>
          <a:xfrm>
            <a:off x="3292883" y="4295855"/>
            <a:ext cx="543048" cy="554752"/>
          </a:xfrm>
          <a:prstGeom prst="ellipse">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6</a:t>
            </a:r>
            <a:endParaRPr lang="en-IN"/>
          </a:p>
        </p:txBody>
      </p:sp>
      <p:sp>
        <p:nvSpPr>
          <p:cNvPr id="24" name="Rectangle: Diagonal Corners Rounded 23">
            <a:extLst>
              <a:ext uri="{FF2B5EF4-FFF2-40B4-BE49-F238E27FC236}">
                <a16:creationId xmlns:a16="http://schemas.microsoft.com/office/drawing/2014/main" id="{2A6FEEE2-DC8F-7137-A580-00B2B356AB08}"/>
              </a:ext>
            </a:extLst>
          </p:cNvPr>
          <p:cNvSpPr/>
          <p:nvPr/>
        </p:nvSpPr>
        <p:spPr>
          <a:xfrm>
            <a:off x="3236679" y="5121581"/>
            <a:ext cx="6851056" cy="589126"/>
          </a:xfrm>
          <a:prstGeom prst="round2DiagRect">
            <a:avLst/>
          </a:prstGeom>
          <a:solidFill>
            <a:schemeClr val="bg1"/>
          </a:solidFill>
          <a:ln>
            <a:solidFill>
              <a:schemeClr val="bg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Oval 24">
            <a:extLst>
              <a:ext uri="{FF2B5EF4-FFF2-40B4-BE49-F238E27FC236}">
                <a16:creationId xmlns:a16="http://schemas.microsoft.com/office/drawing/2014/main" id="{1B91A2C7-BBE6-6753-C43A-FBC00080DBCB}"/>
              </a:ext>
            </a:extLst>
          </p:cNvPr>
          <p:cNvSpPr/>
          <p:nvPr/>
        </p:nvSpPr>
        <p:spPr>
          <a:xfrm>
            <a:off x="3279912" y="5150604"/>
            <a:ext cx="526418" cy="531079"/>
          </a:xfrm>
          <a:prstGeom prst="ellipse">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7</a:t>
            </a:r>
            <a:endParaRPr lang="en-IN"/>
          </a:p>
        </p:txBody>
      </p:sp>
      <p:sp>
        <p:nvSpPr>
          <p:cNvPr id="27" name="TextBox 26">
            <a:extLst>
              <a:ext uri="{FF2B5EF4-FFF2-40B4-BE49-F238E27FC236}">
                <a16:creationId xmlns:a16="http://schemas.microsoft.com/office/drawing/2014/main" id="{68085541-3EFA-CBEE-B8EE-5DB02601BE41}"/>
              </a:ext>
            </a:extLst>
          </p:cNvPr>
          <p:cNvSpPr txBox="1"/>
          <p:nvPr/>
        </p:nvSpPr>
        <p:spPr>
          <a:xfrm>
            <a:off x="3889580" y="55581"/>
            <a:ext cx="4058596" cy="523220"/>
          </a:xfrm>
          <a:prstGeom prst="rect">
            <a:avLst/>
          </a:prstGeom>
          <a:noFill/>
        </p:spPr>
        <p:txBody>
          <a:bodyPr wrap="square" rtlCol="0">
            <a:spAutoFit/>
          </a:bodyPr>
          <a:lstStyle/>
          <a:p>
            <a:r>
              <a:rPr lang="en-US" sz="2800"/>
              <a:t>G</a:t>
            </a:r>
            <a:r>
              <a:rPr lang="en-IN" sz="2800"/>
              <a:t>ap Identified</a:t>
            </a:r>
          </a:p>
        </p:txBody>
      </p:sp>
      <p:sp>
        <p:nvSpPr>
          <p:cNvPr id="28" name="TextBox 27">
            <a:extLst>
              <a:ext uri="{FF2B5EF4-FFF2-40B4-BE49-F238E27FC236}">
                <a16:creationId xmlns:a16="http://schemas.microsoft.com/office/drawing/2014/main" id="{0401BC05-87B4-E982-8439-B8710A6DA001}"/>
              </a:ext>
            </a:extLst>
          </p:cNvPr>
          <p:cNvSpPr txBox="1"/>
          <p:nvPr/>
        </p:nvSpPr>
        <p:spPr>
          <a:xfrm>
            <a:off x="3889580" y="869797"/>
            <a:ext cx="4892156" cy="523220"/>
          </a:xfrm>
          <a:prstGeom prst="rect">
            <a:avLst/>
          </a:prstGeom>
          <a:noFill/>
        </p:spPr>
        <p:txBody>
          <a:bodyPr wrap="square" rtlCol="0">
            <a:spAutoFit/>
          </a:bodyPr>
          <a:lstStyle/>
          <a:p>
            <a:r>
              <a:rPr lang="en-IN" sz="2800"/>
              <a:t>Problem Statement</a:t>
            </a:r>
          </a:p>
        </p:txBody>
      </p:sp>
      <p:sp>
        <p:nvSpPr>
          <p:cNvPr id="29" name="TextBox 28">
            <a:extLst>
              <a:ext uri="{FF2B5EF4-FFF2-40B4-BE49-F238E27FC236}">
                <a16:creationId xmlns:a16="http://schemas.microsoft.com/office/drawing/2014/main" id="{76330471-626E-E05A-1CBA-E49C74C434B2}"/>
              </a:ext>
            </a:extLst>
          </p:cNvPr>
          <p:cNvSpPr txBox="1"/>
          <p:nvPr/>
        </p:nvSpPr>
        <p:spPr>
          <a:xfrm>
            <a:off x="4023807" y="1841051"/>
            <a:ext cx="5864787" cy="523220"/>
          </a:xfrm>
          <a:prstGeom prst="rect">
            <a:avLst/>
          </a:prstGeom>
          <a:noFill/>
        </p:spPr>
        <p:txBody>
          <a:bodyPr wrap="square" rtlCol="0">
            <a:spAutoFit/>
          </a:bodyPr>
          <a:lstStyle/>
          <a:p>
            <a:r>
              <a:rPr lang="en-US" sz="2800"/>
              <a:t>Aim &amp;Objectives</a:t>
            </a:r>
            <a:endParaRPr lang="en-IN" sz="2800"/>
          </a:p>
        </p:txBody>
      </p:sp>
      <p:sp>
        <p:nvSpPr>
          <p:cNvPr id="30" name="TextBox 29">
            <a:extLst>
              <a:ext uri="{FF2B5EF4-FFF2-40B4-BE49-F238E27FC236}">
                <a16:creationId xmlns:a16="http://schemas.microsoft.com/office/drawing/2014/main" id="{5E9B3346-C8AD-73EF-6F00-B2660F2D31BD}"/>
              </a:ext>
            </a:extLst>
          </p:cNvPr>
          <p:cNvSpPr txBox="1"/>
          <p:nvPr/>
        </p:nvSpPr>
        <p:spPr>
          <a:xfrm>
            <a:off x="4023806" y="2669049"/>
            <a:ext cx="5864787" cy="523220"/>
          </a:xfrm>
          <a:prstGeom prst="rect">
            <a:avLst/>
          </a:prstGeom>
          <a:noFill/>
        </p:spPr>
        <p:txBody>
          <a:bodyPr wrap="square" rtlCol="0">
            <a:spAutoFit/>
          </a:bodyPr>
          <a:lstStyle/>
          <a:p>
            <a:r>
              <a:rPr lang="en-US" sz="2800"/>
              <a:t>S</a:t>
            </a:r>
            <a:r>
              <a:rPr lang="en-IN" sz="2800"/>
              <a:t>cope</a:t>
            </a:r>
          </a:p>
        </p:txBody>
      </p:sp>
      <p:sp>
        <p:nvSpPr>
          <p:cNvPr id="31" name="TextBox 30">
            <a:extLst>
              <a:ext uri="{FF2B5EF4-FFF2-40B4-BE49-F238E27FC236}">
                <a16:creationId xmlns:a16="http://schemas.microsoft.com/office/drawing/2014/main" id="{DB5DFF29-6950-894D-6827-C4370718786F}"/>
              </a:ext>
            </a:extLst>
          </p:cNvPr>
          <p:cNvSpPr txBox="1"/>
          <p:nvPr/>
        </p:nvSpPr>
        <p:spPr>
          <a:xfrm>
            <a:off x="3917020" y="3455974"/>
            <a:ext cx="6233346" cy="523220"/>
          </a:xfrm>
          <a:prstGeom prst="rect">
            <a:avLst/>
          </a:prstGeom>
          <a:noFill/>
        </p:spPr>
        <p:txBody>
          <a:bodyPr wrap="square" rtlCol="0">
            <a:spAutoFit/>
          </a:bodyPr>
          <a:lstStyle/>
          <a:p>
            <a:r>
              <a:rPr lang="en-US" sz="2800"/>
              <a:t>Data Collection</a:t>
            </a:r>
            <a:endParaRPr lang="en-IN" sz="2800"/>
          </a:p>
        </p:txBody>
      </p:sp>
      <p:sp>
        <p:nvSpPr>
          <p:cNvPr id="32" name="TextBox 31">
            <a:extLst>
              <a:ext uri="{FF2B5EF4-FFF2-40B4-BE49-F238E27FC236}">
                <a16:creationId xmlns:a16="http://schemas.microsoft.com/office/drawing/2014/main" id="{1ABBEDAC-55A2-59C8-E087-923758FFB4B8}"/>
              </a:ext>
            </a:extLst>
          </p:cNvPr>
          <p:cNvSpPr txBox="1"/>
          <p:nvPr/>
        </p:nvSpPr>
        <p:spPr>
          <a:xfrm>
            <a:off x="3873262" y="4265329"/>
            <a:ext cx="6233346" cy="523220"/>
          </a:xfrm>
          <a:prstGeom prst="rect">
            <a:avLst/>
          </a:prstGeom>
          <a:noFill/>
        </p:spPr>
        <p:txBody>
          <a:bodyPr wrap="square" rtlCol="0">
            <a:spAutoFit/>
          </a:bodyPr>
          <a:lstStyle/>
          <a:p>
            <a:r>
              <a:rPr lang="en-US" sz="2800"/>
              <a:t> A</a:t>
            </a:r>
            <a:r>
              <a:rPr lang="en-IN" sz="2800" err="1"/>
              <a:t>rchitecture</a:t>
            </a:r>
            <a:r>
              <a:rPr lang="en-IN" sz="2800"/>
              <a:t> Diagram</a:t>
            </a:r>
          </a:p>
        </p:txBody>
      </p:sp>
      <p:sp>
        <p:nvSpPr>
          <p:cNvPr id="33" name="TextBox 32">
            <a:extLst>
              <a:ext uri="{FF2B5EF4-FFF2-40B4-BE49-F238E27FC236}">
                <a16:creationId xmlns:a16="http://schemas.microsoft.com/office/drawing/2014/main" id="{B8CA108A-8CCD-8ECE-4CAF-62D6E29DA0C2}"/>
              </a:ext>
            </a:extLst>
          </p:cNvPr>
          <p:cNvSpPr txBox="1"/>
          <p:nvPr/>
        </p:nvSpPr>
        <p:spPr>
          <a:xfrm>
            <a:off x="3895871" y="5103863"/>
            <a:ext cx="6233346" cy="523220"/>
          </a:xfrm>
          <a:prstGeom prst="rect">
            <a:avLst/>
          </a:prstGeom>
          <a:noFill/>
        </p:spPr>
        <p:txBody>
          <a:bodyPr wrap="square" rtlCol="0">
            <a:spAutoFit/>
          </a:bodyPr>
          <a:lstStyle/>
          <a:p>
            <a:r>
              <a:rPr lang="en-US" sz="2800"/>
              <a:t>B</a:t>
            </a:r>
            <a:r>
              <a:rPr lang="en-IN" sz="2800"/>
              <a:t>lock diagram , Data Flow Diagram</a:t>
            </a:r>
          </a:p>
        </p:txBody>
      </p:sp>
      <p:sp>
        <p:nvSpPr>
          <p:cNvPr id="34" name="Rectangle: Diagonal Corners Rounded 33">
            <a:extLst>
              <a:ext uri="{FF2B5EF4-FFF2-40B4-BE49-F238E27FC236}">
                <a16:creationId xmlns:a16="http://schemas.microsoft.com/office/drawing/2014/main" id="{B1D5FBE0-BA6C-A927-937D-22908BE17A12}"/>
              </a:ext>
            </a:extLst>
          </p:cNvPr>
          <p:cNvSpPr/>
          <p:nvPr/>
        </p:nvSpPr>
        <p:spPr>
          <a:xfrm>
            <a:off x="3229931" y="5951683"/>
            <a:ext cx="6851056" cy="589126"/>
          </a:xfrm>
          <a:prstGeom prst="round2DiagRect">
            <a:avLst/>
          </a:prstGeom>
          <a:solidFill>
            <a:schemeClr val="bg1"/>
          </a:solidFill>
          <a:ln>
            <a:solidFill>
              <a:schemeClr val="bg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Oval 34">
            <a:extLst>
              <a:ext uri="{FF2B5EF4-FFF2-40B4-BE49-F238E27FC236}">
                <a16:creationId xmlns:a16="http://schemas.microsoft.com/office/drawing/2014/main" id="{28FDFCB1-2B02-B846-175E-92CCA738F1B6}"/>
              </a:ext>
            </a:extLst>
          </p:cNvPr>
          <p:cNvSpPr/>
          <p:nvPr/>
        </p:nvSpPr>
        <p:spPr>
          <a:xfrm>
            <a:off x="3287851" y="5986494"/>
            <a:ext cx="526418" cy="529292"/>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8</a:t>
            </a:r>
            <a:endParaRPr lang="en-IN"/>
          </a:p>
        </p:txBody>
      </p:sp>
      <p:sp>
        <p:nvSpPr>
          <p:cNvPr id="37" name="TextBox 36">
            <a:extLst>
              <a:ext uri="{FF2B5EF4-FFF2-40B4-BE49-F238E27FC236}">
                <a16:creationId xmlns:a16="http://schemas.microsoft.com/office/drawing/2014/main" id="{DE2DEF86-3BE4-2C11-7B10-D544823470AA}"/>
              </a:ext>
            </a:extLst>
          </p:cNvPr>
          <p:cNvSpPr txBox="1"/>
          <p:nvPr/>
        </p:nvSpPr>
        <p:spPr>
          <a:xfrm>
            <a:off x="3895871" y="5984583"/>
            <a:ext cx="6233346" cy="523220"/>
          </a:xfrm>
          <a:prstGeom prst="rect">
            <a:avLst/>
          </a:prstGeom>
          <a:noFill/>
        </p:spPr>
        <p:txBody>
          <a:bodyPr wrap="square" rtlCol="0">
            <a:spAutoFit/>
          </a:bodyPr>
          <a:lstStyle/>
          <a:p>
            <a:r>
              <a:rPr lang="en-US" sz="2800"/>
              <a:t>A</a:t>
            </a:r>
            <a:r>
              <a:rPr lang="en-IN" sz="2800" err="1"/>
              <a:t>lgorithm</a:t>
            </a:r>
            <a:r>
              <a:rPr lang="en-IN" sz="2800"/>
              <a:t> / Model Development</a:t>
            </a:r>
          </a:p>
        </p:txBody>
      </p:sp>
    </p:spTree>
    <p:extLst>
      <p:ext uri="{BB962C8B-B14F-4D97-AF65-F5344CB8AC3E}">
        <p14:creationId xmlns:p14="http://schemas.microsoft.com/office/powerpoint/2010/main" val="744833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elogram 1">
            <a:extLst>
              <a:ext uri="{FF2B5EF4-FFF2-40B4-BE49-F238E27FC236}">
                <a16:creationId xmlns:a16="http://schemas.microsoft.com/office/drawing/2014/main" id="{309544A0-72E2-69E0-D962-01A0F0AE359C}"/>
              </a:ext>
            </a:extLst>
          </p:cNvPr>
          <p:cNvSpPr/>
          <p:nvPr/>
        </p:nvSpPr>
        <p:spPr>
          <a:xfrm>
            <a:off x="1341933" y="1288598"/>
            <a:ext cx="4754067" cy="2100260"/>
          </a:xfrm>
          <a:prstGeom prst="parallelogram">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2000" b="1" dirty="0">
                <a:latin typeface="Times New Roman"/>
                <a:cs typeface="Times New Roman"/>
              </a:rPr>
              <a:t>Limited AI Integration</a:t>
            </a:r>
          </a:p>
          <a:p>
            <a:r>
              <a:rPr lang="en-US" dirty="0">
                <a:ea typeface="+mn-lt"/>
                <a:cs typeface="+mn-lt"/>
              </a:rPr>
              <a:t>Most existing AI solutions address isolated SDLC phases (requirements, testing, or code) and lack an integrated, end-to-end SDLC optimization pipeline.</a:t>
            </a:r>
            <a:r>
              <a:rPr lang="en-US" dirty="0"/>
              <a:t>.</a:t>
            </a:r>
            <a:endParaRPr lang="en-US" dirty="0">
              <a:ea typeface="Calibri"/>
              <a:cs typeface="Calibri"/>
            </a:endParaRPr>
          </a:p>
        </p:txBody>
      </p:sp>
      <p:sp>
        <p:nvSpPr>
          <p:cNvPr id="4" name="Parallelogram 3">
            <a:extLst>
              <a:ext uri="{FF2B5EF4-FFF2-40B4-BE49-F238E27FC236}">
                <a16:creationId xmlns:a16="http://schemas.microsoft.com/office/drawing/2014/main" id="{793511EB-DE41-CC59-4C47-59B9C67FF868}"/>
              </a:ext>
            </a:extLst>
          </p:cNvPr>
          <p:cNvSpPr/>
          <p:nvPr/>
        </p:nvSpPr>
        <p:spPr>
          <a:xfrm rot="10800000" flipV="1">
            <a:off x="6326095" y="1264783"/>
            <a:ext cx="4539755" cy="2052636"/>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2000" b="1" dirty="0">
                <a:latin typeface="Times New Roman"/>
                <a:cs typeface="Times New Roman"/>
              </a:rPr>
              <a:t>Insufficient Traceability</a:t>
            </a:r>
          </a:p>
          <a:p>
            <a:r>
              <a:rPr lang="en-US" dirty="0">
                <a:ea typeface="+mn-lt"/>
                <a:cs typeface="+mn-lt"/>
              </a:rPr>
              <a:t>Automated traceability across requirements, design, implementation, and testing is largely absent, leading to poor impact analysis and maintainability.</a:t>
            </a:r>
            <a:endParaRPr lang="en-US" dirty="0"/>
          </a:p>
        </p:txBody>
      </p:sp>
      <p:sp>
        <p:nvSpPr>
          <p:cNvPr id="5" name="Parallelogram 4">
            <a:extLst>
              <a:ext uri="{FF2B5EF4-FFF2-40B4-BE49-F238E27FC236}">
                <a16:creationId xmlns:a16="http://schemas.microsoft.com/office/drawing/2014/main" id="{B071B2D6-E615-6582-1CDE-3B6090EA03F8}"/>
              </a:ext>
            </a:extLst>
          </p:cNvPr>
          <p:cNvSpPr/>
          <p:nvPr/>
        </p:nvSpPr>
        <p:spPr>
          <a:xfrm rot="10800000" flipV="1">
            <a:off x="1315395" y="3918859"/>
            <a:ext cx="4697260" cy="1969292"/>
          </a:xfrm>
          <a:prstGeom prst="parallelogram">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2000" b="1" dirty="0">
                <a:latin typeface="Times New Roman"/>
                <a:cs typeface="Times New Roman"/>
              </a:rPr>
              <a:t>Contextual Understanding</a:t>
            </a:r>
          </a:p>
          <a:p>
            <a:r>
              <a:rPr lang="en-US" dirty="0">
                <a:ea typeface="+mn-lt"/>
                <a:cs typeface="+mn-lt"/>
              </a:rPr>
              <a:t>Existing NLP and LLM-based approaches struggle to achieve deep contextual understanding of SRS documents, often producing ambiguous or hallucinated outputs.</a:t>
            </a:r>
            <a:endParaRPr lang="en-US" dirty="0"/>
          </a:p>
        </p:txBody>
      </p:sp>
      <p:sp>
        <p:nvSpPr>
          <p:cNvPr id="7" name="TextBox 6">
            <a:extLst>
              <a:ext uri="{FF2B5EF4-FFF2-40B4-BE49-F238E27FC236}">
                <a16:creationId xmlns:a16="http://schemas.microsoft.com/office/drawing/2014/main" id="{E61C560A-69E5-BAB9-0D23-1D45A5713E67}"/>
              </a:ext>
            </a:extLst>
          </p:cNvPr>
          <p:cNvSpPr txBox="1"/>
          <p:nvPr/>
        </p:nvSpPr>
        <p:spPr>
          <a:xfrm>
            <a:off x="1819408" y="88452"/>
            <a:ext cx="10232571" cy="646331"/>
          </a:xfrm>
          <a:prstGeom prst="rect">
            <a:avLst/>
          </a:prstGeom>
          <a:noFill/>
        </p:spPr>
        <p:txBody>
          <a:bodyPr wrap="square">
            <a:spAutoFit/>
          </a:bodyPr>
          <a:lstStyle/>
          <a:p>
            <a:pPr>
              <a:buNone/>
            </a:pPr>
            <a:r>
              <a:rPr lang="en-US" sz="3600" b="1"/>
              <a:t>Identifying Critical Gaps in SDLC Automation</a:t>
            </a:r>
          </a:p>
        </p:txBody>
      </p:sp>
      <p:sp>
        <p:nvSpPr>
          <p:cNvPr id="14" name="Parallelogram 13">
            <a:extLst>
              <a:ext uri="{FF2B5EF4-FFF2-40B4-BE49-F238E27FC236}">
                <a16:creationId xmlns:a16="http://schemas.microsoft.com/office/drawing/2014/main" id="{4B723F9B-9B2B-34B5-9194-981112BC4DA3}"/>
              </a:ext>
            </a:extLst>
          </p:cNvPr>
          <p:cNvSpPr/>
          <p:nvPr/>
        </p:nvSpPr>
        <p:spPr>
          <a:xfrm rot="10800000" flipH="1" flipV="1">
            <a:off x="6423045" y="3941654"/>
            <a:ext cx="4694535" cy="1981198"/>
          </a:xfrm>
          <a:prstGeom prst="parallelogram">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2000" b="1" dirty="0">
                <a:latin typeface="Times New Roman"/>
                <a:cs typeface="Times New Roman"/>
              </a:rPr>
              <a:t>Security &amp; Ethics</a:t>
            </a:r>
          </a:p>
          <a:p>
            <a:r>
              <a:rPr lang="en-US" dirty="0">
                <a:ea typeface="+mn-lt"/>
                <a:cs typeface="+mn-lt"/>
              </a:rPr>
              <a:t>Security, explainability, ethical AI usage, and accountability are insufficiently addressed in current AI-based SDLC solutions, limiting real-world adoption.</a:t>
            </a:r>
            <a:endParaRPr lang="en-US" dirty="0"/>
          </a:p>
        </p:txBody>
      </p:sp>
    </p:spTree>
    <p:extLst>
      <p:ext uri="{BB962C8B-B14F-4D97-AF65-F5344CB8AC3E}">
        <p14:creationId xmlns:p14="http://schemas.microsoft.com/office/powerpoint/2010/main" val="31877317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275254-4F0E-8378-87F1-E9A9D13A6E6F}"/>
              </a:ext>
            </a:extLst>
          </p:cNvPr>
          <p:cNvSpPr txBox="1"/>
          <p:nvPr/>
        </p:nvSpPr>
        <p:spPr>
          <a:xfrm>
            <a:off x="761999" y="305191"/>
            <a:ext cx="6096000" cy="646331"/>
          </a:xfrm>
          <a:prstGeom prst="rect">
            <a:avLst/>
          </a:prstGeom>
          <a:noFill/>
        </p:spPr>
        <p:txBody>
          <a:bodyPr wrap="square">
            <a:spAutoFit/>
          </a:bodyPr>
          <a:lstStyle/>
          <a:p>
            <a:r>
              <a:rPr lang="en-US" sz="3600" b="1">
                <a:latin typeface="Times New Roman" panose="02020603050405020304" pitchFamily="18" charset="0"/>
                <a:cs typeface="Times New Roman" panose="02020603050405020304" pitchFamily="18" charset="0"/>
              </a:rPr>
              <a:t>Problem Statement </a:t>
            </a:r>
            <a:endParaRPr lang="en-IN" sz="3600" b="1"/>
          </a:p>
        </p:txBody>
      </p:sp>
      <p:sp>
        <p:nvSpPr>
          <p:cNvPr id="5" name="TextBox 4">
            <a:extLst>
              <a:ext uri="{FF2B5EF4-FFF2-40B4-BE49-F238E27FC236}">
                <a16:creationId xmlns:a16="http://schemas.microsoft.com/office/drawing/2014/main" id="{E4B3EFAD-0F59-F5BA-2041-F51C8784721E}"/>
              </a:ext>
            </a:extLst>
          </p:cNvPr>
          <p:cNvSpPr txBox="1"/>
          <p:nvPr/>
        </p:nvSpPr>
        <p:spPr>
          <a:xfrm>
            <a:off x="761999" y="1013077"/>
            <a:ext cx="5551715" cy="3693319"/>
          </a:xfrm>
          <a:prstGeom prst="rect">
            <a:avLst/>
          </a:prstGeom>
          <a:noFill/>
        </p:spPr>
        <p:txBody>
          <a:bodyPr wrap="square">
            <a:spAutoFit/>
          </a:bodyPr>
          <a:lstStyle/>
          <a:p>
            <a:br>
              <a:rPr lang="en-US"/>
            </a:br>
            <a:r>
              <a:rPr lang="en-US"/>
              <a:t>Traditional Software Development Life Cycle (SDLC) models are often burdened by manual processes. This reliance leads to significant challenges:</a:t>
            </a:r>
          </a:p>
          <a:p>
            <a:endParaRPr lang="en-US"/>
          </a:p>
          <a:p>
            <a:pPr marL="285750" indent="-285750">
              <a:buFont typeface="Wingdings" panose="05000000000000000000" pitchFamily="2" charset="2"/>
              <a:buChar char="Ø"/>
            </a:pPr>
            <a:r>
              <a:rPr lang="en-US">
                <a:effectLst/>
              </a:rPr>
              <a:t>Inefficiencies and Human Errors:</a:t>
            </a:r>
            <a:r>
              <a:rPr lang="en-US"/>
              <a:t> Manual interventions introduce delays and increase the likelihood of mistakes.</a:t>
            </a:r>
          </a:p>
          <a:p>
            <a:pPr marL="285750" indent="-285750">
              <a:buFont typeface="Wingdings" panose="05000000000000000000" pitchFamily="2" charset="2"/>
              <a:buChar char="Ø"/>
            </a:pPr>
            <a:r>
              <a:rPr lang="en-US">
                <a:effectLst/>
              </a:rPr>
              <a:t>Delayed Delivery:</a:t>
            </a:r>
            <a:r>
              <a:rPr lang="en-US"/>
              <a:t> Slower processes directly impact time-to-market for critical software.</a:t>
            </a:r>
          </a:p>
          <a:p>
            <a:pPr marL="285750" indent="-285750">
              <a:buFont typeface="Wingdings" panose="05000000000000000000" pitchFamily="2" charset="2"/>
              <a:buChar char="Ø"/>
            </a:pPr>
            <a:r>
              <a:rPr lang="en-US">
                <a:effectLst/>
              </a:rPr>
              <a:t>Poor Scalability:</a:t>
            </a:r>
            <a:r>
              <a:rPr lang="en-US"/>
              <a:t> Manual methods struggle to adapt to growing project complexity and demand.</a:t>
            </a:r>
          </a:p>
          <a:p>
            <a:endParaRPr lang="en-IN"/>
          </a:p>
        </p:txBody>
      </p:sp>
      <p:sp>
        <p:nvSpPr>
          <p:cNvPr id="7" name="TextBox 6">
            <a:extLst>
              <a:ext uri="{FF2B5EF4-FFF2-40B4-BE49-F238E27FC236}">
                <a16:creationId xmlns:a16="http://schemas.microsoft.com/office/drawing/2014/main" id="{F4B3404E-DCEB-1A40-70CE-E9052DE520BE}"/>
              </a:ext>
            </a:extLst>
          </p:cNvPr>
          <p:cNvSpPr txBox="1"/>
          <p:nvPr/>
        </p:nvSpPr>
        <p:spPr>
          <a:xfrm>
            <a:off x="761999" y="4663238"/>
            <a:ext cx="10700658" cy="1754326"/>
          </a:xfrm>
          <a:prstGeom prst="rect">
            <a:avLst/>
          </a:prstGeom>
          <a:noFill/>
        </p:spPr>
        <p:txBody>
          <a:bodyPr wrap="square" lIns="91440" tIns="45720" rIns="91440" bIns="45720" anchor="t">
            <a:spAutoFit/>
          </a:bodyPr>
          <a:lstStyle/>
          <a:p>
            <a:r>
              <a:rPr lang="en-US" b="1" dirty="0"/>
              <a:t>Example:</a:t>
            </a:r>
            <a:br>
              <a:rPr lang="en-US" dirty="0"/>
            </a:br>
            <a:r>
              <a:rPr lang="en-US" dirty="0"/>
              <a:t>In an online banking application, ambiguous requirements documented in the SRS may be misinterpreted during design, causing coding errors that surface only during testing and lead to rework and delays. Security checks performed late in deployment further increase vulnerability risks. A cloud-based AI-driven SDLC framework can automatically interpret requirements, generate accurate designs, assist in code development, perform continuous testing, and enforce security throughout the lifecycle, thereby reducing defect rate, time, and risk.</a:t>
            </a:r>
            <a:endParaRPr lang="en-IN" dirty="0"/>
          </a:p>
        </p:txBody>
      </p:sp>
      <p:pic>
        <p:nvPicPr>
          <p:cNvPr id="9" name="Picture 8">
            <a:extLst>
              <a:ext uri="{FF2B5EF4-FFF2-40B4-BE49-F238E27FC236}">
                <a16:creationId xmlns:a16="http://schemas.microsoft.com/office/drawing/2014/main" id="{71DDA8A8-6E31-3B9E-06F0-45110E2701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07048" y="305191"/>
            <a:ext cx="3724275" cy="4581525"/>
          </a:xfrm>
          <a:prstGeom prst="rect">
            <a:avLst/>
          </a:prstGeom>
        </p:spPr>
      </p:pic>
    </p:spTree>
    <p:extLst>
      <p:ext uri="{BB962C8B-B14F-4D97-AF65-F5344CB8AC3E}">
        <p14:creationId xmlns:p14="http://schemas.microsoft.com/office/powerpoint/2010/main" val="2449779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1AB9BD-36C7-A08E-B42D-2519DD8B0E82}"/>
              </a:ext>
            </a:extLst>
          </p:cNvPr>
          <p:cNvSpPr txBox="1"/>
          <p:nvPr/>
        </p:nvSpPr>
        <p:spPr>
          <a:xfrm>
            <a:off x="751114" y="1382286"/>
            <a:ext cx="4691744" cy="2046714"/>
          </a:xfrm>
          <a:prstGeom prst="rect">
            <a:avLst/>
          </a:prstGeom>
          <a:noFill/>
        </p:spPr>
        <p:txBody>
          <a:bodyPr wrap="square">
            <a:spAutoFit/>
          </a:bodyPr>
          <a:lstStyle/>
          <a:p>
            <a:pPr>
              <a:buNone/>
            </a:pPr>
            <a:r>
              <a:rPr lang="en-US" sz="2800" b="1"/>
              <a:t>Aim :-</a:t>
            </a:r>
          </a:p>
          <a:p>
            <a:pPr>
              <a:buNone/>
            </a:pPr>
            <a:endParaRPr lang="en-US" sz="900" b="1"/>
          </a:p>
          <a:p>
            <a:pPr>
              <a:buNone/>
            </a:pPr>
            <a:r>
              <a:rPr lang="en-US"/>
              <a:t>To design and rigorously analyze a </a:t>
            </a:r>
            <a:r>
              <a:rPr lang="en-US" b="1"/>
              <a:t>cloud-based AI-driven SDLC optimization framework</a:t>
            </a:r>
            <a:r>
              <a:rPr lang="en-US"/>
              <a:t> that comprehensively enhances efficiency, scalability, quality, and security across all phases of software development.</a:t>
            </a:r>
          </a:p>
        </p:txBody>
      </p:sp>
      <p:sp>
        <p:nvSpPr>
          <p:cNvPr id="7" name="TextBox 6">
            <a:extLst>
              <a:ext uri="{FF2B5EF4-FFF2-40B4-BE49-F238E27FC236}">
                <a16:creationId xmlns:a16="http://schemas.microsoft.com/office/drawing/2014/main" id="{D761F208-E00B-7423-ED8D-522998B07BBD}"/>
              </a:ext>
            </a:extLst>
          </p:cNvPr>
          <p:cNvSpPr txBox="1"/>
          <p:nvPr/>
        </p:nvSpPr>
        <p:spPr>
          <a:xfrm>
            <a:off x="6965835" y="1264308"/>
            <a:ext cx="5132275" cy="4955203"/>
          </a:xfrm>
          <a:prstGeom prst="rect">
            <a:avLst/>
          </a:prstGeom>
          <a:noFill/>
        </p:spPr>
        <p:txBody>
          <a:bodyPr wrap="square" lIns="91440" tIns="45720" rIns="91440" bIns="45720" anchor="t">
            <a:spAutoFit/>
          </a:bodyPr>
          <a:lstStyle/>
          <a:p>
            <a:pPr>
              <a:buNone/>
            </a:pPr>
            <a:r>
              <a:rPr lang="en-US" sz="2800" b="1" dirty="0"/>
              <a:t>Key Objectives :-</a:t>
            </a:r>
          </a:p>
          <a:p>
            <a:r>
              <a:rPr lang="en-US" dirty="0">
                <a:ea typeface="+mn-lt"/>
                <a:cs typeface="+mn-lt"/>
              </a:rPr>
              <a:t>To </a:t>
            </a:r>
            <a:r>
              <a:rPr lang="en-US" b="1" dirty="0">
                <a:ea typeface="+mn-lt"/>
                <a:cs typeface="+mn-lt"/>
              </a:rPr>
              <a:t>study and analyze</a:t>
            </a:r>
            <a:r>
              <a:rPr lang="en-US" dirty="0">
                <a:ea typeface="+mn-lt"/>
                <a:cs typeface="+mn-lt"/>
              </a:rPr>
              <a:t> existing AI and cloud-based SDLC frameworks and identify their limitations.</a:t>
            </a:r>
            <a:endParaRPr lang="en-US">
              <a:ea typeface="Calibri"/>
              <a:cs typeface="Calibri"/>
            </a:endParaRPr>
          </a:p>
          <a:p>
            <a:r>
              <a:rPr lang="en-US" dirty="0">
                <a:ea typeface="+mn-lt"/>
                <a:cs typeface="+mn-lt"/>
              </a:rPr>
              <a:t>• To </a:t>
            </a:r>
            <a:r>
              <a:rPr lang="en-US" b="1" dirty="0">
                <a:ea typeface="+mn-lt"/>
                <a:cs typeface="+mn-lt"/>
              </a:rPr>
              <a:t>design a unified AI-driven SDLC architecture</a:t>
            </a:r>
            <a:r>
              <a:rPr lang="en-US" dirty="0">
                <a:ea typeface="+mn-lt"/>
                <a:cs typeface="+mn-lt"/>
              </a:rPr>
              <a:t> integrating requirement analysis, defect prediction, testing, and deployment.</a:t>
            </a:r>
            <a:endParaRPr lang="en-US" dirty="0"/>
          </a:p>
          <a:p>
            <a:r>
              <a:rPr lang="en-US" dirty="0">
                <a:ea typeface="+mn-lt"/>
                <a:cs typeface="+mn-lt"/>
              </a:rPr>
              <a:t>• To </a:t>
            </a:r>
            <a:r>
              <a:rPr lang="en-US" b="1" dirty="0">
                <a:ea typeface="+mn-lt"/>
                <a:cs typeface="+mn-lt"/>
              </a:rPr>
              <a:t>develop AI-assisted modules</a:t>
            </a:r>
            <a:r>
              <a:rPr lang="en-US" dirty="0">
                <a:ea typeface="+mn-lt"/>
                <a:cs typeface="+mn-lt"/>
              </a:rPr>
              <a:t> for requirement engineering, design generation, defect prediction, and testing using ML and RAG-based models.</a:t>
            </a:r>
            <a:endParaRPr lang="en-US" dirty="0"/>
          </a:p>
          <a:p>
            <a:r>
              <a:rPr lang="en-US" dirty="0">
                <a:ea typeface="+mn-lt"/>
                <a:cs typeface="+mn-lt"/>
              </a:rPr>
              <a:t>• To</a:t>
            </a:r>
            <a:r>
              <a:rPr lang="en-US" b="1" dirty="0">
                <a:ea typeface="+mn-lt"/>
                <a:cs typeface="+mn-lt"/>
              </a:rPr>
              <a:t> evaluate the performance </a:t>
            </a:r>
            <a:r>
              <a:rPr lang="en-US" dirty="0">
                <a:ea typeface="+mn-lt"/>
                <a:cs typeface="+mn-lt"/>
              </a:rPr>
              <a:t>of the proposed framework using standard metrics such as accuracy, precision, recall, and F1-score.</a:t>
            </a:r>
            <a:endParaRPr lang="en-US" dirty="0"/>
          </a:p>
          <a:p>
            <a:r>
              <a:rPr lang="en-US" dirty="0">
                <a:ea typeface="+mn-lt"/>
                <a:cs typeface="+mn-lt"/>
              </a:rPr>
              <a:t>• To </a:t>
            </a:r>
            <a:r>
              <a:rPr lang="en-US" b="1" dirty="0">
                <a:ea typeface="+mn-lt"/>
                <a:cs typeface="+mn-lt"/>
              </a:rPr>
              <a:t>compare traditional SDLC approaches with AI-enabled SDLC models</a:t>
            </a:r>
            <a:r>
              <a:rPr lang="en-US" dirty="0">
                <a:ea typeface="+mn-lt"/>
                <a:cs typeface="+mn-lt"/>
              </a:rPr>
              <a:t> to highlight improvements in automation and quality.</a:t>
            </a:r>
            <a:endParaRPr lang="en-US" dirty="0"/>
          </a:p>
          <a:p>
            <a:r>
              <a:rPr lang="en-US" dirty="0">
                <a:ea typeface="+mn-lt"/>
                <a:cs typeface="+mn-lt"/>
              </a:rPr>
              <a:t>• To</a:t>
            </a:r>
            <a:r>
              <a:rPr lang="en-US" b="1" dirty="0">
                <a:ea typeface="+mn-lt"/>
                <a:cs typeface="+mn-lt"/>
              </a:rPr>
              <a:t> identify research gaps and propose future enhancements</a:t>
            </a:r>
            <a:r>
              <a:rPr lang="en-US" dirty="0">
                <a:ea typeface="+mn-lt"/>
                <a:cs typeface="+mn-lt"/>
              </a:rPr>
              <a:t> for continuous SDLC optimization.</a:t>
            </a:r>
            <a:endParaRPr lang="en-US" dirty="0"/>
          </a:p>
        </p:txBody>
      </p:sp>
      <p:sp>
        <p:nvSpPr>
          <p:cNvPr id="9" name="TextBox 8">
            <a:extLst>
              <a:ext uri="{FF2B5EF4-FFF2-40B4-BE49-F238E27FC236}">
                <a16:creationId xmlns:a16="http://schemas.microsoft.com/office/drawing/2014/main" id="{626E920F-DD56-9EF2-42F5-E11EB2DD92F8}"/>
              </a:ext>
            </a:extLst>
          </p:cNvPr>
          <p:cNvSpPr txBox="1"/>
          <p:nvPr/>
        </p:nvSpPr>
        <p:spPr>
          <a:xfrm>
            <a:off x="751114" y="258362"/>
            <a:ext cx="6096000" cy="646331"/>
          </a:xfrm>
          <a:prstGeom prst="rect">
            <a:avLst/>
          </a:prstGeom>
          <a:noFill/>
        </p:spPr>
        <p:txBody>
          <a:bodyPr wrap="square">
            <a:spAutoFit/>
          </a:bodyPr>
          <a:lstStyle/>
          <a:p>
            <a:r>
              <a:rPr lang="en-US" sz="3600" b="1">
                <a:latin typeface="Times New Roman" panose="02020603050405020304" pitchFamily="18" charset="0"/>
                <a:cs typeface="Times New Roman" panose="02020603050405020304" pitchFamily="18" charset="0"/>
              </a:rPr>
              <a:t>Aim &amp; Objectives</a:t>
            </a:r>
            <a:endParaRPr lang="en-IN" sz="3600" b="1">
              <a:latin typeface="Times New Roman" panose="02020603050405020304" pitchFamily="18" charset="0"/>
              <a:cs typeface="Times New Roman" panose="02020603050405020304" pitchFamily="18" charset="0"/>
            </a:endParaRPr>
          </a:p>
        </p:txBody>
      </p:sp>
      <p:pic>
        <p:nvPicPr>
          <p:cNvPr id="2" name="Picture 1" descr="A diagram of a process&#10;&#10;AI-generated content may be incorrect.">
            <a:extLst>
              <a:ext uri="{FF2B5EF4-FFF2-40B4-BE49-F238E27FC236}">
                <a16:creationId xmlns:a16="http://schemas.microsoft.com/office/drawing/2014/main" id="{4A844283-C404-A791-0CE1-53140B851356}"/>
              </a:ext>
            </a:extLst>
          </p:cNvPr>
          <p:cNvPicPr>
            <a:picLocks noChangeAspect="1"/>
          </p:cNvPicPr>
          <p:nvPr/>
        </p:nvPicPr>
        <p:blipFill>
          <a:blip r:embed="rId2"/>
          <a:stretch>
            <a:fillRect/>
          </a:stretch>
        </p:blipFill>
        <p:spPr>
          <a:xfrm>
            <a:off x="371972" y="4069663"/>
            <a:ext cx="6477996" cy="1152525"/>
          </a:xfrm>
          <a:prstGeom prst="rect">
            <a:avLst/>
          </a:prstGeom>
        </p:spPr>
      </p:pic>
    </p:spTree>
    <p:extLst>
      <p:ext uri="{BB962C8B-B14F-4D97-AF65-F5344CB8AC3E}">
        <p14:creationId xmlns:p14="http://schemas.microsoft.com/office/powerpoint/2010/main" val="2653327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0C89A5-08D5-1696-4800-F52018E0C53B}"/>
              </a:ext>
            </a:extLst>
          </p:cNvPr>
          <p:cNvSpPr txBox="1"/>
          <p:nvPr/>
        </p:nvSpPr>
        <p:spPr>
          <a:xfrm>
            <a:off x="278315" y="1360469"/>
            <a:ext cx="6008914" cy="5047536"/>
          </a:xfrm>
          <a:prstGeom prst="rect">
            <a:avLst/>
          </a:prstGeom>
          <a:noFill/>
        </p:spPr>
        <p:txBody>
          <a:bodyPr wrap="square" lIns="91440" tIns="45720" rIns="91440" bIns="45720" anchor="t">
            <a:spAutoFit/>
          </a:bodyPr>
          <a:lstStyle/>
          <a:p>
            <a:r>
              <a:rPr lang="en-US" sz="2400" b="1" dirty="0">
                <a:latin typeface="Times New Roman"/>
                <a:cs typeface="Times New Roman"/>
              </a:rPr>
              <a:t>What is Included</a:t>
            </a:r>
            <a:r>
              <a:rPr lang="en-IN" sz="2400" b="1" dirty="0">
                <a:latin typeface="Times New Roman"/>
                <a:cs typeface="Times New Roman"/>
              </a:rPr>
              <a:t> </a:t>
            </a:r>
            <a:r>
              <a:rPr lang="en-IN" sz="2400" b="1" dirty="0"/>
              <a:t>: Core AI-SDLC Innovations</a:t>
            </a:r>
          </a:p>
          <a:p>
            <a:pPr>
              <a:buNone/>
            </a:pPr>
            <a:endParaRPr lang="en-IN" b="1"/>
          </a:p>
          <a:p>
            <a:pPr marL="342900" indent="-342900">
              <a:buFont typeface="Wingdings" panose="05000000000000000000" pitchFamily="2" charset="2"/>
              <a:buChar char="ü"/>
            </a:pPr>
            <a:r>
              <a:rPr lang="en-IN" sz="2000" b="1" dirty="0"/>
              <a:t>AI-assisted requirement analysis:</a:t>
            </a:r>
            <a:r>
              <a:rPr lang="en-IN" sz="2000" dirty="0"/>
              <a:t> Utilizing NLP and LLMs for precise extraction.</a:t>
            </a:r>
            <a:endParaRPr lang="en-IN" sz="2000" dirty="0">
              <a:ea typeface="Calibri"/>
              <a:cs typeface="Calibri"/>
            </a:endParaRPr>
          </a:p>
          <a:p>
            <a:pPr marL="342900" indent="-342900">
              <a:buFont typeface="Wingdings" panose="05000000000000000000" pitchFamily="2" charset="2"/>
              <a:buChar char="ü"/>
            </a:pPr>
            <a:r>
              <a:rPr lang="en-IN" sz="2000" b="1" dirty="0"/>
              <a:t>Automated design and UML generation:</a:t>
            </a:r>
            <a:r>
              <a:rPr lang="en-IN" sz="2000" dirty="0"/>
              <a:t> Accelerating the architectural phase.</a:t>
            </a:r>
            <a:endParaRPr lang="en-IN" sz="2000" dirty="0">
              <a:ea typeface="Calibri"/>
              <a:cs typeface="Calibri"/>
            </a:endParaRPr>
          </a:p>
          <a:p>
            <a:pPr marL="342900" indent="-342900">
              <a:buFont typeface="Wingdings" panose="05000000000000000000" pitchFamily="2" charset="2"/>
              <a:buChar char="ü"/>
            </a:pPr>
            <a:r>
              <a:rPr lang="en-IN" sz="2000" b="1" dirty="0"/>
              <a:t>Generative AI-assistant code generation:</a:t>
            </a:r>
            <a:r>
              <a:rPr lang="en-IN" sz="2000" dirty="0"/>
              <a:t> Creating efficient and robust code.</a:t>
            </a:r>
            <a:endParaRPr lang="en-IN" sz="2000" dirty="0">
              <a:ea typeface="Calibri"/>
              <a:cs typeface="Calibri"/>
            </a:endParaRPr>
          </a:p>
          <a:p>
            <a:pPr marL="342900" indent="-342900">
              <a:buFont typeface="Wingdings" panose="05000000000000000000" pitchFamily="2" charset="2"/>
              <a:buChar char="ü"/>
            </a:pPr>
            <a:r>
              <a:rPr lang="en-IN" sz="2000" b="1" dirty="0"/>
              <a:t>AI-driven testing and quality assurance:</a:t>
            </a:r>
            <a:r>
              <a:rPr lang="en-IN" sz="2000" dirty="0"/>
              <a:t> Ensuring high-quality software.</a:t>
            </a:r>
            <a:endParaRPr lang="en-IN" sz="2000" dirty="0">
              <a:ea typeface="Calibri"/>
              <a:cs typeface="Calibri"/>
            </a:endParaRPr>
          </a:p>
          <a:p>
            <a:pPr marL="342900" indent="-342900">
              <a:buFont typeface="Wingdings" panose="05000000000000000000" pitchFamily="2" charset="2"/>
              <a:buChar char="ü"/>
            </a:pPr>
            <a:r>
              <a:rPr lang="en-IN" sz="2000" b="1" dirty="0"/>
              <a:t>Cloud-based deployment and </a:t>
            </a:r>
            <a:r>
              <a:rPr lang="en-IN" sz="2000" b="1" dirty="0" err="1"/>
              <a:t>DevSecOps</a:t>
            </a:r>
            <a:r>
              <a:rPr lang="en-IN" sz="2000" b="1" dirty="0"/>
              <a:t> integration:</a:t>
            </a:r>
            <a:r>
              <a:rPr lang="en-IN" sz="2000" dirty="0"/>
              <a:t> Streamlining operations.</a:t>
            </a:r>
            <a:endParaRPr lang="en-IN" sz="2000" dirty="0">
              <a:ea typeface="Calibri"/>
              <a:cs typeface="Calibri"/>
            </a:endParaRPr>
          </a:p>
          <a:p>
            <a:pPr marL="342900" indent="-342900">
              <a:buFont typeface="Wingdings" panose="05000000000000000000" pitchFamily="2" charset="2"/>
              <a:buChar char="ü"/>
            </a:pPr>
            <a:r>
              <a:rPr lang="en-IN" sz="2000" b="1" dirty="0"/>
              <a:t>Predictive risk management and monitoring:</a:t>
            </a:r>
            <a:r>
              <a:rPr lang="en-IN" sz="2000" dirty="0"/>
              <a:t> Proactive identification of issues.</a:t>
            </a:r>
            <a:endParaRPr lang="en-IN" sz="2000" dirty="0">
              <a:ea typeface="Calibri"/>
              <a:cs typeface="Calibri"/>
            </a:endParaRPr>
          </a:p>
          <a:p>
            <a:pPr marL="342900" indent="-342900">
              <a:buFont typeface="Wingdings" panose="05000000000000000000" pitchFamily="2" charset="2"/>
              <a:buChar char="ü"/>
            </a:pPr>
            <a:r>
              <a:rPr lang="en-IN" sz="2000" b="1" dirty="0">
                <a:ea typeface="+mn-lt"/>
                <a:cs typeface="+mn-lt"/>
              </a:rPr>
              <a:t>Integration of RAG-based AI and hybrid ML models</a:t>
            </a:r>
            <a:r>
              <a:rPr lang="en-IN" sz="2000" dirty="0">
                <a:ea typeface="+mn-lt"/>
                <a:cs typeface="+mn-lt"/>
              </a:rPr>
              <a:t> for SDLC optimization across multiple phases</a:t>
            </a:r>
            <a:endParaRPr lang="en-IN" sz="2000" dirty="0">
              <a:ea typeface="Calibri"/>
              <a:cs typeface="Calibri"/>
            </a:endParaRPr>
          </a:p>
        </p:txBody>
      </p:sp>
      <p:sp>
        <p:nvSpPr>
          <p:cNvPr id="5" name="TextBox 4">
            <a:extLst>
              <a:ext uri="{FF2B5EF4-FFF2-40B4-BE49-F238E27FC236}">
                <a16:creationId xmlns:a16="http://schemas.microsoft.com/office/drawing/2014/main" id="{CE15018E-9B4E-C605-7DE3-1CAA73725B98}"/>
              </a:ext>
            </a:extLst>
          </p:cNvPr>
          <p:cNvSpPr txBox="1"/>
          <p:nvPr/>
        </p:nvSpPr>
        <p:spPr>
          <a:xfrm>
            <a:off x="6742319" y="1360468"/>
            <a:ext cx="5159828" cy="4124206"/>
          </a:xfrm>
          <a:prstGeom prst="rect">
            <a:avLst/>
          </a:prstGeom>
          <a:noFill/>
        </p:spPr>
        <p:txBody>
          <a:bodyPr wrap="square">
            <a:spAutoFit/>
          </a:bodyPr>
          <a:lstStyle/>
          <a:p>
            <a:pPr>
              <a:buNone/>
            </a:pPr>
            <a:r>
              <a:rPr lang="en-US" sz="2400" b="1"/>
              <a:t>What is Excluded: Boundaries for Focus</a:t>
            </a:r>
          </a:p>
          <a:p>
            <a:pPr>
              <a:buNone/>
            </a:pPr>
            <a:endParaRPr lang="en-US" b="1"/>
          </a:p>
          <a:p>
            <a:pPr marL="342900" indent="-342900">
              <a:buFont typeface="Wingdings" panose="05000000000000000000" pitchFamily="2" charset="2"/>
              <a:buChar char="§"/>
            </a:pPr>
            <a:r>
              <a:rPr lang="en-US" sz="2000" b="1"/>
              <a:t>Full industrial-scale implementation:</a:t>
            </a:r>
            <a:r>
              <a:rPr lang="en-US" sz="2000"/>
              <a:t> Focusing on design and analysis, not large-scale deployment.</a:t>
            </a:r>
          </a:p>
          <a:p>
            <a:pPr marL="342900" indent="-342900">
              <a:buFont typeface="Wingdings" panose="05000000000000000000" pitchFamily="2" charset="2"/>
              <a:buChar char="§"/>
            </a:pPr>
            <a:r>
              <a:rPr lang="en-US" sz="2000" b="1"/>
              <a:t>Real-time production deployment:</a:t>
            </a:r>
            <a:r>
              <a:rPr lang="en-US" sz="2000"/>
              <a:t> Not covering live operational scenarios.</a:t>
            </a:r>
          </a:p>
          <a:p>
            <a:pPr marL="342900" indent="-342900">
              <a:buFont typeface="Wingdings" panose="05000000000000000000" pitchFamily="2" charset="2"/>
              <a:buChar char="§"/>
            </a:pPr>
            <a:r>
              <a:rPr lang="en-US" sz="2000" b="1"/>
              <a:t>Proprietary datasets and closed-source AI tools:</a:t>
            </a:r>
            <a:r>
              <a:rPr lang="en-US" sz="2000"/>
              <a:t> Limiting to publicly available resources.</a:t>
            </a:r>
          </a:p>
          <a:p>
            <a:pPr marL="342900" indent="-342900">
              <a:buFont typeface="Wingdings" panose="05000000000000000000" pitchFamily="2" charset="2"/>
              <a:buChar char="§"/>
            </a:pPr>
            <a:r>
              <a:rPr lang="en-US" sz="2000" b="1"/>
              <a:t>Legal and organizational policy enforcement:</a:t>
            </a:r>
            <a:r>
              <a:rPr lang="en-US" sz="2000"/>
              <a:t> Beyond the technical framework's direct scope.</a:t>
            </a:r>
          </a:p>
        </p:txBody>
      </p:sp>
      <p:sp>
        <p:nvSpPr>
          <p:cNvPr id="7" name="TextBox 6">
            <a:extLst>
              <a:ext uri="{FF2B5EF4-FFF2-40B4-BE49-F238E27FC236}">
                <a16:creationId xmlns:a16="http://schemas.microsoft.com/office/drawing/2014/main" id="{71C30F15-1115-E922-F5B2-F71F20DF27A2}"/>
              </a:ext>
            </a:extLst>
          </p:cNvPr>
          <p:cNvSpPr txBox="1"/>
          <p:nvPr/>
        </p:nvSpPr>
        <p:spPr>
          <a:xfrm>
            <a:off x="5540828" y="205263"/>
            <a:ext cx="6096000" cy="646331"/>
          </a:xfrm>
          <a:prstGeom prst="rect">
            <a:avLst/>
          </a:prstGeom>
          <a:noFill/>
        </p:spPr>
        <p:txBody>
          <a:bodyPr wrap="square">
            <a:spAutoFit/>
          </a:bodyPr>
          <a:lstStyle/>
          <a:p>
            <a:r>
              <a:rPr lang="en-US" sz="3600" b="1">
                <a:latin typeface="Times New Roman" panose="02020603050405020304" pitchFamily="18" charset="0"/>
                <a:cs typeface="Times New Roman" panose="02020603050405020304" pitchFamily="18" charset="0"/>
              </a:rPr>
              <a:t>Scope</a:t>
            </a:r>
            <a:endParaRPr lang="en-IN" sz="3600" b="1">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45CED359-F7B5-9BA0-52D6-631C86BF650F}"/>
              </a:ext>
            </a:extLst>
          </p:cNvPr>
          <p:cNvSpPr/>
          <p:nvPr/>
        </p:nvSpPr>
        <p:spPr>
          <a:xfrm>
            <a:off x="222563" y="1188915"/>
            <a:ext cx="6074430" cy="5663945"/>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2DFFFB1-B479-C004-0F21-49162C0FF421}"/>
              </a:ext>
            </a:extLst>
          </p:cNvPr>
          <p:cNvSpPr/>
          <p:nvPr/>
        </p:nvSpPr>
        <p:spPr>
          <a:xfrm>
            <a:off x="6736635" y="1189088"/>
            <a:ext cx="5158837" cy="5653530"/>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721036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F219D-ECBE-4A2A-98B6-C5CB891B21DC}"/>
              </a:ext>
            </a:extLst>
          </p:cNvPr>
          <p:cNvSpPr>
            <a:spLocks noGrp="1"/>
          </p:cNvSpPr>
          <p:nvPr>
            <p:ph type="ctrTitle"/>
          </p:nvPr>
        </p:nvSpPr>
        <p:spPr>
          <a:xfrm>
            <a:off x="1055914" y="-1527059"/>
            <a:ext cx="9144000" cy="2387600"/>
          </a:xfrm>
        </p:spPr>
        <p:txBody>
          <a:bodyPr>
            <a:normAutofit/>
          </a:bodyPr>
          <a:lstStyle/>
          <a:p>
            <a:pPr algn="l"/>
            <a:r>
              <a:rPr lang="en-US" sz="3600" b="1">
                <a:latin typeface="Times New Roman" panose="02020603050405020304" pitchFamily="18" charset="0"/>
                <a:cs typeface="Times New Roman" panose="02020603050405020304" pitchFamily="18" charset="0"/>
              </a:rPr>
              <a:t>Data Collection</a:t>
            </a:r>
            <a:endParaRPr lang="en-IN" sz="3600" b="1">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44470AF7-29BB-026C-319A-F969A8922743}"/>
              </a:ext>
            </a:extLst>
          </p:cNvPr>
          <p:cNvSpPr txBox="1"/>
          <p:nvPr/>
        </p:nvSpPr>
        <p:spPr>
          <a:xfrm>
            <a:off x="1055914" y="1502445"/>
            <a:ext cx="7347856" cy="369332"/>
          </a:xfrm>
          <a:prstGeom prst="rect">
            <a:avLst/>
          </a:prstGeom>
          <a:noFill/>
        </p:spPr>
        <p:txBody>
          <a:bodyPr wrap="square">
            <a:spAutoFit/>
          </a:bodyPr>
          <a:lstStyle/>
          <a:p>
            <a:r>
              <a:rPr lang="en-IN"/>
              <a:t> </a:t>
            </a:r>
          </a:p>
        </p:txBody>
      </p:sp>
      <p:sp>
        <p:nvSpPr>
          <p:cNvPr id="9" name="TextBox 8">
            <a:extLst>
              <a:ext uri="{FF2B5EF4-FFF2-40B4-BE49-F238E27FC236}">
                <a16:creationId xmlns:a16="http://schemas.microsoft.com/office/drawing/2014/main" id="{AA358F90-106A-E170-3507-50D7643B618F}"/>
              </a:ext>
            </a:extLst>
          </p:cNvPr>
          <p:cNvSpPr txBox="1"/>
          <p:nvPr/>
        </p:nvSpPr>
        <p:spPr>
          <a:xfrm>
            <a:off x="1055915" y="1074509"/>
            <a:ext cx="6270172" cy="5324535"/>
          </a:xfrm>
          <a:prstGeom prst="rect">
            <a:avLst/>
          </a:prstGeom>
          <a:noFill/>
        </p:spPr>
        <p:txBody>
          <a:bodyPr wrap="square">
            <a:spAutoFit/>
          </a:bodyPr>
          <a:lstStyle/>
          <a:p>
            <a:r>
              <a:rPr lang="en-IN" sz="2000" b="1">
                <a:latin typeface="Times New Roman" panose="02020603050405020304" pitchFamily="18" charset="0"/>
                <a:cs typeface="Times New Roman" panose="02020603050405020304" pitchFamily="18" charset="0"/>
              </a:rPr>
              <a:t>Dataset Name :</a:t>
            </a:r>
          </a:p>
          <a:p>
            <a:r>
              <a:rPr lang="en-IN" sz="2000">
                <a:latin typeface="Times New Roman" panose="02020603050405020304" pitchFamily="18" charset="0"/>
                <a:cs typeface="Times New Roman" panose="02020603050405020304" pitchFamily="18" charset="0"/>
              </a:rPr>
              <a:t>Hybrid SDLC Dataset (SRS + GitHub Code + NASA Defect Dataset)</a:t>
            </a:r>
          </a:p>
          <a:p>
            <a:r>
              <a:rPr lang="en-IN" sz="2000" b="1">
                <a:latin typeface="Times New Roman" panose="02020603050405020304" pitchFamily="18" charset="0"/>
                <a:cs typeface="Times New Roman" panose="02020603050405020304" pitchFamily="18" charset="0"/>
              </a:rPr>
              <a:t>Category :</a:t>
            </a:r>
          </a:p>
          <a:p>
            <a:r>
              <a:rPr lang="en-IN" sz="2000">
                <a:latin typeface="Times New Roman" panose="02020603050405020304" pitchFamily="18" charset="0"/>
                <a:cs typeface="Times New Roman" panose="02020603050405020304" pitchFamily="18" charset="0"/>
              </a:rPr>
              <a:t>Public </a:t>
            </a:r>
            <a:r>
              <a:rPr lang="en-IN" sz="2000" err="1">
                <a:latin typeface="Times New Roman" panose="02020603050405020304" pitchFamily="18" charset="0"/>
                <a:cs typeface="Times New Roman" panose="02020603050405020304" pitchFamily="18" charset="0"/>
              </a:rPr>
              <a:t>DatasetCustom</a:t>
            </a:r>
            <a:r>
              <a:rPr lang="en-IN" sz="2000">
                <a:latin typeface="Times New Roman" panose="02020603050405020304" pitchFamily="18" charset="0"/>
                <a:cs typeface="Times New Roman" panose="02020603050405020304" pitchFamily="18" charset="0"/>
              </a:rPr>
              <a:t> Dataset (Project-Specific)</a:t>
            </a:r>
          </a:p>
          <a:p>
            <a:r>
              <a:rPr lang="en-IN" sz="2000" b="1">
                <a:latin typeface="Times New Roman" panose="02020603050405020304" pitchFamily="18" charset="0"/>
                <a:cs typeface="Times New Roman" panose="02020603050405020304" pitchFamily="18" charset="0"/>
              </a:rPr>
              <a:t>Source :</a:t>
            </a:r>
          </a:p>
          <a:p>
            <a:r>
              <a:rPr lang="en-IN" sz="2000">
                <a:latin typeface="Times New Roman" panose="02020603050405020304" pitchFamily="18" charset="0"/>
                <a:cs typeface="Times New Roman" panose="02020603050405020304" pitchFamily="18" charset="0"/>
              </a:rPr>
              <a:t>Software Requirement Specification (SRS) documents (PDF format)Open-source software repositories from </a:t>
            </a:r>
            <a:r>
              <a:rPr lang="en-IN" sz="2000" err="1">
                <a:latin typeface="Times New Roman" panose="02020603050405020304" pitchFamily="18" charset="0"/>
                <a:cs typeface="Times New Roman" panose="02020603050405020304" pitchFamily="18" charset="0"/>
              </a:rPr>
              <a:t>GitHubNASA</a:t>
            </a:r>
            <a:r>
              <a:rPr lang="en-IN" sz="2000">
                <a:latin typeface="Times New Roman" panose="02020603050405020304" pitchFamily="18" charset="0"/>
                <a:cs typeface="Times New Roman" panose="02020603050405020304" pitchFamily="18" charset="0"/>
              </a:rPr>
              <a:t> MDP Software Defect Dataset (KC1)</a:t>
            </a:r>
          </a:p>
          <a:p>
            <a:r>
              <a:rPr lang="en-IN" sz="2000" b="1">
                <a:latin typeface="Times New Roman" panose="02020603050405020304" pitchFamily="18" charset="0"/>
                <a:cs typeface="Times New Roman" panose="02020603050405020304" pitchFamily="18" charset="0"/>
              </a:rPr>
              <a:t>Description :</a:t>
            </a:r>
          </a:p>
          <a:p>
            <a:r>
              <a:rPr lang="en-IN" sz="2000"/>
              <a:t>The experimental dataset consists of SDLC artifacts, including SRS documents, open-source GitHub project code, and the NASA MDP KC1 dataset for defect prediction. Synthetic variations are used to simulate real-world project evolution. This hybrid dataset supports evaluation of the proposed cloud-enabled, RAG-based AI framework across multiple SDLC phases.</a:t>
            </a:r>
            <a:endParaRPr lang="en-IN" sz="2000" b="1">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D380FB9-EC68-DA85-D7BA-F16FDFCF9E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14569" y="1605751"/>
            <a:ext cx="3903889" cy="3646498"/>
          </a:xfrm>
          <a:prstGeom prst="rect">
            <a:avLst/>
          </a:prstGeom>
        </p:spPr>
      </p:pic>
    </p:spTree>
    <p:extLst>
      <p:ext uri="{BB962C8B-B14F-4D97-AF65-F5344CB8AC3E}">
        <p14:creationId xmlns:p14="http://schemas.microsoft.com/office/powerpoint/2010/main" val="7635278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FDE279-BC3C-8651-2C47-B44E08436877}"/>
              </a:ext>
            </a:extLst>
          </p:cNvPr>
          <p:cNvSpPr txBox="1"/>
          <p:nvPr/>
        </p:nvSpPr>
        <p:spPr>
          <a:xfrm>
            <a:off x="4691742" y="79607"/>
            <a:ext cx="6096000" cy="923330"/>
          </a:xfrm>
          <a:prstGeom prst="rect">
            <a:avLst/>
          </a:prstGeom>
          <a:noFill/>
        </p:spPr>
        <p:txBody>
          <a:bodyPr wrap="square">
            <a:spAutoFit/>
          </a:bodyPr>
          <a:lstStyle/>
          <a:p>
            <a:r>
              <a:rPr lang="en-US" sz="1800">
                <a:latin typeface="Times New Roman"/>
                <a:ea typeface="Calibri Light"/>
                <a:cs typeface="Calibri Light"/>
              </a:rPr>
              <a:t> </a:t>
            </a:r>
            <a:r>
              <a:rPr lang="en-US" sz="3600" b="1">
                <a:latin typeface="Times New Roman"/>
                <a:ea typeface="Calibri Light"/>
                <a:cs typeface="Calibri Light"/>
              </a:rPr>
              <a:t>Architecture</a:t>
            </a:r>
            <a:br>
              <a:rPr lang="en-US" sz="1800">
                <a:latin typeface="Times New Roman"/>
                <a:ea typeface="Calibri Light"/>
                <a:cs typeface="Calibri Light"/>
              </a:rPr>
            </a:br>
            <a:endParaRPr lang="en-IN"/>
          </a:p>
        </p:txBody>
      </p:sp>
      <p:pic>
        <p:nvPicPr>
          <p:cNvPr id="5" name="Picture 4">
            <a:extLst>
              <a:ext uri="{FF2B5EF4-FFF2-40B4-BE49-F238E27FC236}">
                <a16:creationId xmlns:a16="http://schemas.microsoft.com/office/drawing/2014/main" id="{62A2C818-F119-D0E5-40BA-A49BF8DF78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8471" y="827314"/>
            <a:ext cx="11615057" cy="5867399"/>
          </a:xfrm>
          <a:prstGeom prst="rect">
            <a:avLst/>
          </a:prstGeom>
        </p:spPr>
      </p:pic>
    </p:spTree>
    <p:extLst>
      <p:ext uri="{BB962C8B-B14F-4D97-AF65-F5344CB8AC3E}">
        <p14:creationId xmlns:p14="http://schemas.microsoft.com/office/powerpoint/2010/main" val="41397280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DC40C1-22AF-A6F2-0FC4-75B76A4F9957}"/>
              </a:ext>
            </a:extLst>
          </p:cNvPr>
          <p:cNvSpPr txBox="1"/>
          <p:nvPr/>
        </p:nvSpPr>
        <p:spPr>
          <a:xfrm>
            <a:off x="1663564" y="389472"/>
            <a:ext cx="6096000" cy="523220"/>
          </a:xfrm>
          <a:prstGeom prst="rect">
            <a:avLst/>
          </a:prstGeom>
          <a:noFill/>
        </p:spPr>
        <p:txBody>
          <a:bodyPr wrap="square">
            <a:spAutoFit/>
          </a:bodyPr>
          <a:lstStyle/>
          <a:p>
            <a:r>
              <a:rPr lang="en-US" sz="2800" b="1">
                <a:latin typeface="Times New Roman"/>
                <a:ea typeface="Calibri Light"/>
                <a:cs typeface="Calibri Light"/>
              </a:rPr>
              <a:t>Block Diagram</a:t>
            </a:r>
            <a:endParaRPr lang="en-IN" sz="2800" b="1"/>
          </a:p>
        </p:txBody>
      </p:sp>
      <p:pic>
        <p:nvPicPr>
          <p:cNvPr id="4" name="Picture 3">
            <a:extLst>
              <a:ext uri="{FF2B5EF4-FFF2-40B4-BE49-F238E27FC236}">
                <a16:creationId xmlns:a16="http://schemas.microsoft.com/office/drawing/2014/main" id="{434665A1-2C68-A136-2F6D-4046BA0394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5410" y="1198890"/>
            <a:ext cx="4391025" cy="5315130"/>
          </a:xfrm>
          <a:prstGeom prst="rect">
            <a:avLst/>
          </a:prstGeom>
        </p:spPr>
      </p:pic>
      <p:pic>
        <p:nvPicPr>
          <p:cNvPr id="6" name="Picture 5" descr="A diagram of a process&#10;&#10;AI-generated content may be incorrect.">
            <a:extLst>
              <a:ext uri="{FF2B5EF4-FFF2-40B4-BE49-F238E27FC236}">
                <a16:creationId xmlns:a16="http://schemas.microsoft.com/office/drawing/2014/main" id="{0FEA0EFD-0A41-9C73-2AB3-F3AEA0E901C2}"/>
              </a:ext>
            </a:extLst>
          </p:cNvPr>
          <p:cNvPicPr>
            <a:picLocks noChangeAspect="1"/>
          </p:cNvPicPr>
          <p:nvPr/>
        </p:nvPicPr>
        <p:blipFill>
          <a:blip r:embed="rId3"/>
          <a:stretch>
            <a:fillRect/>
          </a:stretch>
        </p:blipFill>
        <p:spPr>
          <a:xfrm>
            <a:off x="7052907" y="1205125"/>
            <a:ext cx="3556663" cy="5232494"/>
          </a:xfrm>
          <a:prstGeom prst="rect">
            <a:avLst/>
          </a:prstGeom>
        </p:spPr>
      </p:pic>
      <p:sp>
        <p:nvSpPr>
          <p:cNvPr id="7" name="TextBox 6">
            <a:extLst>
              <a:ext uri="{FF2B5EF4-FFF2-40B4-BE49-F238E27FC236}">
                <a16:creationId xmlns:a16="http://schemas.microsoft.com/office/drawing/2014/main" id="{F86CED32-BBBE-2EA9-9D9B-63052F68D222}"/>
              </a:ext>
            </a:extLst>
          </p:cNvPr>
          <p:cNvSpPr txBox="1"/>
          <p:nvPr/>
        </p:nvSpPr>
        <p:spPr>
          <a:xfrm>
            <a:off x="7187821" y="392373"/>
            <a:ext cx="6096000"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2800" b="1" baseline="0">
                <a:latin typeface="Calibri"/>
              </a:rPr>
              <a:t>Neural Network</a:t>
            </a:r>
            <a:r>
              <a:rPr lang="en-IN" sz="2800" baseline="0">
                <a:latin typeface="Calibri"/>
              </a:rPr>
              <a:t> </a:t>
            </a:r>
            <a:r>
              <a:rPr sz="2800">
                <a:latin typeface="Calibri"/>
                <a:ea typeface="Calibri"/>
                <a:cs typeface="Calibri"/>
              </a:rPr>
              <a:t>​</a:t>
            </a:r>
            <a:endParaRPr lang="en-US"/>
          </a:p>
          <a:p>
            <a:pPr algn="ctr"/>
            <a:endParaRPr lang="en-US"/>
          </a:p>
        </p:txBody>
      </p:sp>
    </p:spTree>
    <p:extLst>
      <p:ext uri="{BB962C8B-B14F-4D97-AF65-F5344CB8AC3E}">
        <p14:creationId xmlns:p14="http://schemas.microsoft.com/office/powerpoint/2010/main" val="4048197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diagram of a data processing process&#10;&#10;AI-generated content may be incorrect.">
            <a:extLst>
              <a:ext uri="{FF2B5EF4-FFF2-40B4-BE49-F238E27FC236}">
                <a16:creationId xmlns:a16="http://schemas.microsoft.com/office/drawing/2014/main" id="{42C6F21C-B7F3-89FD-EC43-E77747D47FEB}"/>
              </a:ext>
            </a:extLst>
          </p:cNvPr>
          <p:cNvPicPr>
            <a:picLocks noChangeAspect="1"/>
          </p:cNvPicPr>
          <p:nvPr/>
        </p:nvPicPr>
        <p:blipFill>
          <a:blip r:embed="rId2"/>
          <a:stretch>
            <a:fillRect/>
          </a:stretch>
        </p:blipFill>
        <p:spPr>
          <a:xfrm>
            <a:off x="2915289" y="1367549"/>
            <a:ext cx="5724525" cy="4600575"/>
          </a:xfrm>
          <a:prstGeom prst="rect">
            <a:avLst/>
          </a:prstGeom>
        </p:spPr>
      </p:pic>
      <p:sp>
        <p:nvSpPr>
          <p:cNvPr id="3" name="TextBox 2">
            <a:extLst>
              <a:ext uri="{FF2B5EF4-FFF2-40B4-BE49-F238E27FC236}">
                <a16:creationId xmlns:a16="http://schemas.microsoft.com/office/drawing/2014/main" id="{D125B112-9E46-D6F3-8D90-FB7C2FF22E55}"/>
              </a:ext>
            </a:extLst>
          </p:cNvPr>
          <p:cNvSpPr txBox="1"/>
          <p:nvPr/>
        </p:nvSpPr>
        <p:spPr>
          <a:xfrm>
            <a:off x="4071582" y="312761"/>
            <a:ext cx="6096000"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baseline="0">
                <a:latin typeface="Times New Roman"/>
              </a:rPr>
              <a:t>Data Flow Diagram</a:t>
            </a:r>
            <a:r>
              <a:rPr sz="2800">
                <a:latin typeface="Times New Roman"/>
                <a:ea typeface="Times New Roman"/>
                <a:cs typeface="Times New Roman"/>
              </a:rPr>
              <a:t>​</a:t>
            </a:r>
            <a:endParaRPr lang="en-US"/>
          </a:p>
          <a:p>
            <a:pPr algn="ctr"/>
            <a:endParaRPr lang="en-US"/>
          </a:p>
        </p:txBody>
      </p:sp>
    </p:spTree>
    <p:extLst>
      <p:ext uri="{BB962C8B-B14F-4D97-AF65-F5344CB8AC3E}">
        <p14:creationId xmlns:p14="http://schemas.microsoft.com/office/powerpoint/2010/main" val="13104060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633EFFB-F627-3562-AB09-E903CCB3FD28}"/>
              </a:ext>
            </a:extLst>
          </p:cNvPr>
          <p:cNvSpPr txBox="1"/>
          <p:nvPr/>
        </p:nvSpPr>
        <p:spPr>
          <a:xfrm>
            <a:off x="674914" y="305190"/>
            <a:ext cx="10156371" cy="646331"/>
          </a:xfrm>
          <a:prstGeom prst="rect">
            <a:avLst/>
          </a:prstGeom>
          <a:noFill/>
        </p:spPr>
        <p:txBody>
          <a:bodyPr wrap="square">
            <a:spAutoFit/>
          </a:bodyPr>
          <a:lstStyle/>
          <a:p>
            <a:pPr>
              <a:buNone/>
            </a:pPr>
            <a:r>
              <a:rPr lang="en-IN" sz="3600" b="1"/>
              <a:t>Algorithm / Model Development Workflow</a:t>
            </a:r>
          </a:p>
        </p:txBody>
      </p:sp>
      <p:sp>
        <p:nvSpPr>
          <p:cNvPr id="2" name="TextBox 1">
            <a:extLst>
              <a:ext uri="{FF2B5EF4-FFF2-40B4-BE49-F238E27FC236}">
                <a16:creationId xmlns:a16="http://schemas.microsoft.com/office/drawing/2014/main" id="{B8F119B2-E5E2-AD8F-67AB-54040DAFC3FF}"/>
              </a:ext>
            </a:extLst>
          </p:cNvPr>
          <p:cNvSpPr txBox="1"/>
          <p:nvPr/>
        </p:nvSpPr>
        <p:spPr>
          <a:xfrm>
            <a:off x="679938" y="978877"/>
            <a:ext cx="11512060" cy="58858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Input:</a:t>
            </a:r>
            <a:br>
              <a:rPr lang="en-US"/>
            </a:br>
            <a:r>
              <a:rPr lang="en-US"/>
              <a:t>SRS documents, GitHub source code, NASA KC1 defect dataset, user query</a:t>
            </a:r>
          </a:p>
          <a:p>
            <a:r>
              <a:rPr lang="en-US" b="1"/>
              <a:t>Algorithm Steps:</a:t>
            </a:r>
          </a:p>
          <a:p>
            <a:pPr marL="228600" indent="-228600">
              <a:buFont typeface=""/>
              <a:buAutoNum type="arabicPeriod"/>
            </a:pPr>
            <a:r>
              <a:rPr lang="en-US" b="1"/>
              <a:t>Data Preprocessing:</a:t>
            </a:r>
            <a:br>
              <a:rPr lang="en-US"/>
            </a:br>
            <a:r>
              <a:rPr lang="en-US"/>
              <a:t>Clean and parse SRS text, extract source code metrics (LOC, complexity, coupling), and normalize features.</a:t>
            </a:r>
          </a:p>
          <a:p>
            <a:pPr marL="228600" indent="-228600">
              <a:buFont typeface=""/>
              <a:buAutoNum type="arabicPeriod"/>
            </a:pPr>
            <a:r>
              <a:rPr lang="en-US" b="1"/>
              <a:t>Feature &amp; Embedding Generation:</a:t>
            </a:r>
            <a:br>
              <a:rPr lang="en-US"/>
            </a:br>
            <a:r>
              <a:rPr lang="en-US"/>
              <a:t>Generate text embeddings for SRS and code embeddings for source code; store them in a vector database for semantic retrieval.</a:t>
            </a:r>
          </a:p>
          <a:p>
            <a:pPr marL="228600" indent="-228600">
              <a:buFont typeface=""/>
              <a:buAutoNum type="arabicPeriod"/>
            </a:pPr>
            <a:r>
              <a:rPr lang="en-US" b="1"/>
              <a:t>Defect Prediction (Hybrid ML Model):</a:t>
            </a:r>
            <a:br>
              <a:rPr lang="en-US"/>
            </a:br>
            <a:r>
              <a:rPr lang="en-US"/>
              <a:t>Apply a CNN to learn structural patterns from software metrics and an LSTM to capture dependency behavior across modules, producing defect probability scores.</a:t>
            </a:r>
          </a:p>
          <a:p>
            <a:pPr marL="228600" indent="-228600">
              <a:buFont typeface=""/>
              <a:buAutoNum type="arabicPeriod"/>
            </a:pPr>
            <a:r>
              <a:rPr lang="en-US" b="1"/>
              <a:t>RAG-Based Inference:</a:t>
            </a:r>
            <a:br>
              <a:rPr lang="en-US"/>
            </a:br>
            <a:r>
              <a:rPr lang="en-US"/>
              <a:t>Retrieve relevant project context from the vector database and augment prompts for the Large Language Model (LLM).</a:t>
            </a:r>
          </a:p>
          <a:p>
            <a:pPr marL="228600" indent="-228600">
              <a:buFont typeface=""/>
              <a:buAutoNum type="arabicPeriod"/>
            </a:pPr>
            <a:r>
              <a:rPr lang="en-US" b="1"/>
              <a:t>SDLC Artifact Generation:</a:t>
            </a:r>
            <a:br>
              <a:rPr lang="en-US"/>
            </a:br>
            <a:r>
              <a:rPr lang="en-US"/>
              <a:t>Generate design diagrams, code suggestions, and test cases using the grounded LLM outputs.</a:t>
            </a:r>
          </a:p>
          <a:p>
            <a:pPr marL="228600" indent="-228600">
              <a:buFont typeface=""/>
              <a:buAutoNum type="arabicPeriod"/>
            </a:pPr>
            <a:r>
              <a:rPr lang="en-US" b="1"/>
              <a:t>Evaluation &amp; Feedback:</a:t>
            </a:r>
            <a:br>
              <a:rPr lang="en-US"/>
            </a:br>
            <a:r>
              <a:rPr lang="en-US"/>
              <a:t>Evaluate model performance using Accuracy, Precision, Recall, and F1-Score; update embeddings and models through a continuous feedback loop.</a:t>
            </a:r>
          </a:p>
          <a:p>
            <a:r>
              <a:rPr lang="en-US" b="1"/>
              <a:t>Output:</a:t>
            </a:r>
            <a:br>
              <a:rPr lang="en-US"/>
            </a:br>
            <a:r>
              <a:rPr lang="en-US"/>
              <a:t>Optimized SDLC artifacts, defect predictions, and performance metrics.</a:t>
            </a:r>
          </a:p>
          <a:p>
            <a:pPr algn="ctr"/>
            <a:endParaRPr lang="en-US"/>
          </a:p>
        </p:txBody>
      </p:sp>
    </p:spTree>
    <p:extLst>
      <p:ext uri="{BB962C8B-B14F-4D97-AF65-F5344CB8AC3E}">
        <p14:creationId xmlns:p14="http://schemas.microsoft.com/office/powerpoint/2010/main" val="42570676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B4D0928-8BE3-F65E-CD62-DCD34E6B8519}"/>
              </a:ext>
            </a:extLst>
          </p:cNvPr>
          <p:cNvSpPr txBox="1"/>
          <p:nvPr/>
        </p:nvSpPr>
        <p:spPr>
          <a:xfrm>
            <a:off x="4332514" y="2710934"/>
            <a:ext cx="6096000" cy="830997"/>
          </a:xfrm>
          <a:prstGeom prst="rect">
            <a:avLst/>
          </a:prstGeom>
          <a:noFill/>
        </p:spPr>
        <p:txBody>
          <a:bodyPr wrap="square">
            <a:spAutoFit/>
          </a:bodyPr>
          <a:lstStyle/>
          <a:p>
            <a:r>
              <a:rPr lang="en-US" sz="4800" b="1">
                <a:latin typeface="Times New Roman" panose="02020603050405020304" pitchFamily="18" charset="0"/>
                <a:cs typeface="Times New Roman" panose="02020603050405020304" pitchFamily="18" charset="0"/>
              </a:rPr>
              <a:t>THANK YOU</a:t>
            </a:r>
            <a:endParaRPr lang="en-IN" sz="4800" b="1"/>
          </a:p>
        </p:txBody>
      </p:sp>
    </p:spTree>
    <p:extLst>
      <p:ext uri="{BB962C8B-B14F-4D97-AF65-F5344CB8AC3E}">
        <p14:creationId xmlns:p14="http://schemas.microsoft.com/office/powerpoint/2010/main" val="4854759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965</Words>
  <Application>Microsoft Office PowerPoint</Application>
  <PresentationFormat>Widescreen</PresentationFormat>
  <Paragraphs>101</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Aptos Display</vt:lpstr>
      <vt:lpstr>Arial</vt:lpstr>
      <vt:lpstr>Calibri</vt:lpstr>
      <vt:lpstr>Calibri Light</vt:lpstr>
      <vt:lpstr>Times New Roman</vt:lpstr>
      <vt:lpstr>Wingdings</vt:lpstr>
      <vt:lpstr>Office Theme</vt:lpstr>
      <vt:lpstr> </vt:lpstr>
      <vt:lpstr>PowerPoint Presentation</vt:lpstr>
      <vt:lpstr>PowerPoint Presentation</vt:lpstr>
      <vt:lpstr>PowerPoint Presentation</vt:lpstr>
      <vt:lpstr>PowerPoint Presentation</vt:lpstr>
      <vt:lpstr>PowerPoint Presentation</vt:lpstr>
      <vt:lpstr>Data Collection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ratna kumari thommandru</dc:creator>
  <cp:lastModifiedBy>ratna kumari thommandru</cp:lastModifiedBy>
  <cp:revision>343</cp:revision>
  <dcterms:created xsi:type="dcterms:W3CDTF">2026-01-04T17:44:49Z</dcterms:created>
  <dcterms:modified xsi:type="dcterms:W3CDTF">2026-01-05T17:10:38Z</dcterms:modified>
</cp:coreProperties>
</file>